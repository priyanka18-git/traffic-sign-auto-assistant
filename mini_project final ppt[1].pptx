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3"/>
    <p:sldId id="320" r:id="rId4"/>
    <p:sldId id="303" r:id="rId5"/>
    <p:sldId id="313" r:id="rId6"/>
    <p:sldId id="318" r:id="rId7"/>
    <p:sldId id="319" r:id="rId8"/>
    <p:sldId id="304" r:id="rId9"/>
    <p:sldId id="305" r:id="rId10"/>
    <p:sldId id="306" r:id="rId11"/>
    <p:sldId id="307" r:id="rId12"/>
    <p:sldId id="308" r:id="rId13"/>
    <p:sldId id="315" r:id="rId14"/>
    <p:sldId id="317" r:id="rId15"/>
    <p:sldId id="310" r:id="rId16"/>
    <p:sldId id="311" r:id="rId17"/>
    <p:sldId id="312" r:id="rId18"/>
    <p:sldId id="31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4" d="100"/>
          <a:sy n="84" d="100"/>
        </p:scale>
        <p:origin x="629" y="72"/>
      </p:cViewPr>
      <p:guideLst>
        <p:guide orient="horz" pos="2160"/>
        <p:guide pos="381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5005FB-9319-4514-98E3-210A4DA932B9}"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CBFC30-6A33-424D-A61C-B56D6C37EA34}"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CA359677-B42E-4AD0-BB4A-90FCBDF4142A}"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F4F7A14-B6BD-468F-ABF5-420F3179DF81}"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7E0A24-949D-4101-BD64-283846E51C85}"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B6EE6B8-9E08-4220-B3E4-CA9166477CC9}"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B38CC279-86A7-4EAA-B959-313F77165AAE}" type="datetime1">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CEFCB863-587E-47BF-8CDE-A7897CCC2241}" type="datetime1">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3845364-1250-43D5-9633-43AA4D73D7CF}"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3C5C581-6A13-4E24-AB20-1E47195D77B9}"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CC9BF06-67F0-4675-81BE-04C6368260E9}"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6399B2E-6EF5-4272-AABA-2756DB44F7F7}"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5D7E8-EE27-4204-8EF9-D5E90A448860}"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42E7A-1B01-4098-9571-2638DE670884}"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C5D7E8-EE27-4204-8EF9-D5E90A448860}"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jpeg"/><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38441" y="64781"/>
            <a:ext cx="11915194" cy="1016065"/>
          </a:xfrm>
          <a:prstGeom prst="rect">
            <a:avLst/>
          </a:prstGeom>
        </p:spPr>
      </p:pic>
      <p:sp>
        <p:nvSpPr>
          <p:cNvPr id="8" name="TextBox 8"/>
          <p:cNvSpPr txBox="1"/>
          <p:nvPr/>
        </p:nvSpPr>
        <p:spPr>
          <a:xfrm>
            <a:off x="3900194" y="5530954"/>
            <a:ext cx="4562670" cy="6451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Times New Roman" panose="02020603050405020304" pitchFamily="18" charset="0"/>
                <a:cs typeface="Times New Roman" panose="02020603050405020304" pitchFamily="18" charset="0"/>
              </a:rPr>
              <a:t>   Under the Guidance of</a:t>
            </a:r>
            <a:endParaRPr lang="en-US">
              <a:latin typeface="Times New Roman" panose="02020603050405020304" pitchFamily="18" charset="0"/>
              <a:cs typeface="Times New Roman" panose="02020603050405020304" pitchFamily="18" charset="0"/>
            </a:endParaRPr>
          </a:p>
          <a:p>
            <a:pPr algn="ctr"/>
            <a:r>
              <a:rPr lang="en-US" b="1">
                <a:latin typeface="Times New Roman" panose="02020603050405020304" pitchFamily="18" charset="0"/>
                <a:cs typeface="Times New Roman" panose="02020603050405020304" pitchFamily="18" charset="0"/>
              </a:rPr>
              <a:t>  Prof.  Shridhar Iyer</a:t>
            </a:r>
            <a:endParaRPr lang="en-US" b="1">
              <a:latin typeface="Times New Roman" panose="02020603050405020304" pitchFamily="18" charset="0"/>
              <a:cs typeface="Times New Roman" panose="02020603050405020304" pitchFamily="18" charset="0"/>
            </a:endParaRPr>
          </a:p>
        </p:txBody>
      </p:sp>
      <p:sp>
        <p:nvSpPr>
          <p:cNvPr id="11" name="TextBox 10"/>
          <p:cNvSpPr txBox="1"/>
          <p:nvPr/>
        </p:nvSpPr>
        <p:spPr>
          <a:xfrm>
            <a:off x="2483581" y="4319041"/>
            <a:ext cx="10310326" cy="369332"/>
          </a:xfrm>
          <a:prstGeom prst="rect">
            <a:avLst/>
          </a:prstGeom>
          <a:noFill/>
        </p:spPr>
        <p:txBody>
          <a:bodyPr wrap="square">
            <a:spAutoFit/>
          </a:bodyPr>
          <a:lstStyle/>
          <a:p>
            <a:pPr algn="ctr"/>
            <a:r>
              <a:rPr lang="en-US" sz="1800" b="1">
                <a:solidFill>
                  <a:schemeClr val="accent5">
                    <a:lumMod val="75000"/>
                  </a:schemeClr>
                </a:solidFill>
                <a:latin typeface="Times New Roman" panose="02020603050405020304" pitchFamily="18" charset="0"/>
                <a:cs typeface="Times New Roman" panose="02020603050405020304" pitchFamily="18" charset="0"/>
              </a:rPr>
              <a:t> </a:t>
            </a:r>
            <a:endParaRPr lang="en-IN" sz="2400" b="1"/>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graphicFrame>
        <p:nvGraphicFramePr>
          <p:cNvPr id="9" name="Table 8"/>
          <p:cNvGraphicFramePr/>
          <p:nvPr/>
        </p:nvGraphicFramePr>
        <p:xfrm>
          <a:off x="1985643" y="2624278"/>
          <a:ext cx="8391772" cy="2726317"/>
        </p:xfrm>
        <a:graphic>
          <a:graphicData uri="http://schemas.openxmlformats.org/drawingml/2006/table">
            <a:tbl>
              <a:tblPr firstRow="1" bandRow="1">
                <a:tableStyleId>{5C22544A-7EE6-4342-B048-85BDC9FD1C3A}</a:tableStyleId>
              </a:tblPr>
              <a:tblGrid>
                <a:gridCol w="1030680"/>
                <a:gridCol w="3692386"/>
                <a:gridCol w="2435290"/>
                <a:gridCol w="1233416"/>
              </a:tblGrid>
              <a:tr h="493748">
                <a:tc>
                  <a:txBody>
                    <a:bodyPr/>
                    <a:lstStyle/>
                    <a:p>
                      <a:pPr algn="just">
                        <a:buNone/>
                      </a:pPr>
                      <a:r>
                        <a:rPr lang="en-US" b="0">
                          <a:effectLst/>
                          <a:latin typeface="+mn-lt"/>
                          <a:cs typeface="Times New Roman" panose="02020603050405020304" pitchFamily="18" charset="0"/>
                        </a:rPr>
                        <a:t>SL.NO</a:t>
                      </a:r>
                      <a:endParaRPr lang="en-US" b="0">
                        <a:effectLst/>
                        <a:latin typeface="+mn-lt"/>
                        <a:cs typeface="Times New Roman" panose="02020603050405020304" pitchFamily="18" charset="0"/>
                      </a:endParaRPr>
                    </a:p>
                  </a:txBody>
                  <a:tcPr/>
                </a:tc>
                <a:tc>
                  <a:txBody>
                    <a:bodyPr/>
                    <a:lstStyle/>
                    <a:p>
                      <a:pPr algn="just">
                        <a:buNone/>
                      </a:pPr>
                      <a:r>
                        <a:rPr lang="en-US" b="0">
                          <a:effectLst/>
                          <a:latin typeface="+mn-lt"/>
                          <a:cs typeface="Times New Roman" panose="02020603050405020304" pitchFamily="18" charset="0"/>
                        </a:rPr>
                        <a:t>NAME</a:t>
                      </a:r>
                      <a:endParaRPr lang="en-US" b="0">
                        <a:effectLst/>
                        <a:latin typeface="+mn-lt"/>
                        <a:cs typeface="Times New Roman" panose="02020603050405020304" pitchFamily="18" charset="0"/>
                      </a:endParaRPr>
                    </a:p>
                  </a:txBody>
                  <a:tcPr/>
                </a:tc>
                <a:tc>
                  <a:txBody>
                    <a:bodyPr/>
                    <a:lstStyle/>
                    <a:p>
                      <a:pPr algn="just">
                        <a:buNone/>
                      </a:pPr>
                      <a:r>
                        <a:rPr lang="en-US" b="0">
                          <a:effectLst/>
                          <a:latin typeface="+mn-lt"/>
                          <a:cs typeface="Times New Roman" panose="02020603050405020304" pitchFamily="18" charset="0"/>
                        </a:rPr>
                        <a:t>USN</a:t>
                      </a:r>
                      <a:endParaRPr lang="en-US" b="0">
                        <a:effectLst/>
                        <a:latin typeface="+mn-lt"/>
                        <a:cs typeface="Times New Roman" panose="02020603050405020304" pitchFamily="18" charset="0"/>
                      </a:endParaRPr>
                    </a:p>
                  </a:txBody>
                  <a:tcPr/>
                </a:tc>
                <a:tc>
                  <a:txBody>
                    <a:bodyPr/>
                    <a:lstStyle/>
                    <a:p>
                      <a:pPr algn="just">
                        <a:buNone/>
                      </a:pPr>
                      <a:r>
                        <a:rPr lang="en-US" b="0">
                          <a:effectLst/>
                          <a:latin typeface="+mn-lt"/>
                          <a:cs typeface="Times New Roman" panose="02020603050405020304" pitchFamily="18" charset="0"/>
                        </a:rPr>
                        <a:t>ROLL NO.</a:t>
                      </a:r>
                      <a:endParaRPr lang="en-US" b="0">
                        <a:effectLst/>
                        <a:latin typeface="+mn-lt"/>
                        <a:cs typeface="Times New Roman" panose="02020603050405020304" pitchFamily="18" charset="0"/>
                      </a:endParaRPr>
                    </a:p>
                  </a:txBody>
                  <a:tcPr/>
                </a:tc>
              </a:tr>
              <a:tr h="493748">
                <a:tc>
                  <a:txBody>
                    <a:bodyPr/>
                    <a:lstStyle/>
                    <a:p>
                      <a:pPr algn="just">
                        <a:buNone/>
                      </a:pPr>
                      <a:r>
                        <a:rPr lang="en-US" b="0">
                          <a:effectLst/>
                          <a:latin typeface="+mn-lt"/>
                          <a:cs typeface="Times New Roman" panose="02020603050405020304" pitchFamily="18" charset="0"/>
                        </a:rPr>
                        <a:t>1</a:t>
                      </a:r>
                      <a:endParaRPr lang="en-US" b="0">
                        <a:effectLst/>
                        <a:latin typeface="+mn-lt"/>
                        <a:cs typeface="Times New Roman" panose="02020603050405020304" pitchFamily="18" charset="0"/>
                      </a:endParaRPr>
                    </a:p>
                  </a:txBody>
                  <a:tcPr/>
                </a:tc>
                <a:tc>
                  <a:txBody>
                    <a:bodyPr/>
                    <a:lstStyle/>
                    <a:p>
                      <a:pPr algn="just">
                        <a:buNone/>
                      </a:pPr>
                      <a:r>
                        <a:rPr lang="en-US" b="0" dirty="0">
                          <a:effectLst/>
                          <a:latin typeface="+mn-lt"/>
                          <a:cs typeface="Times New Roman" panose="02020603050405020304" pitchFamily="18" charset="0"/>
                        </a:rPr>
                        <a:t>Nandeesh . Katakol</a:t>
                      </a:r>
                      <a:endParaRPr lang="en-US" b="0" dirty="0">
                        <a:effectLst/>
                        <a:latin typeface="+mn-lt"/>
                        <a:cs typeface="Times New Roman" panose="02020603050405020304" pitchFamily="18" charset="0"/>
                      </a:endParaRPr>
                    </a:p>
                  </a:txBody>
                  <a:tcPr anchor="ctr"/>
                </a:tc>
                <a:tc>
                  <a:txBody>
                    <a:bodyPr/>
                    <a:lstStyle/>
                    <a:p>
                      <a:pPr algn="just">
                        <a:buNone/>
                      </a:pPr>
                      <a:r>
                        <a:rPr lang="en-US" b="0">
                          <a:effectLst/>
                          <a:latin typeface="+mn-lt"/>
                          <a:cs typeface="Times New Roman" panose="02020603050405020304" pitchFamily="18" charset="0"/>
                        </a:rPr>
                        <a:t>02FE22BEC040</a:t>
                      </a:r>
                      <a:endParaRPr lang="en-US" b="0">
                        <a:effectLst/>
                        <a:latin typeface="+mn-lt"/>
                        <a:cs typeface="Times New Roman" panose="02020603050405020304" pitchFamily="18" charset="0"/>
                      </a:endParaRPr>
                    </a:p>
                  </a:txBody>
                  <a:tcPr/>
                </a:tc>
                <a:tc>
                  <a:txBody>
                    <a:bodyPr/>
                    <a:lstStyle/>
                    <a:p>
                      <a:pPr algn="just">
                        <a:buNone/>
                      </a:pPr>
                      <a:r>
                        <a:rPr lang="en-US" b="0">
                          <a:effectLst/>
                          <a:latin typeface="+mn-lt"/>
                          <a:cs typeface="Times New Roman" panose="02020603050405020304" pitchFamily="18" charset="0"/>
                        </a:rPr>
                        <a:t>40</a:t>
                      </a:r>
                      <a:endParaRPr lang="en-US" b="0">
                        <a:effectLst/>
                        <a:latin typeface="+mn-lt"/>
                        <a:cs typeface="Times New Roman" panose="02020603050405020304" pitchFamily="18" charset="0"/>
                      </a:endParaRPr>
                    </a:p>
                  </a:txBody>
                  <a:tcPr/>
                </a:tc>
              </a:tr>
              <a:tr h="579607">
                <a:tc>
                  <a:txBody>
                    <a:bodyPr/>
                    <a:lstStyle/>
                    <a:p>
                      <a:pPr algn="just">
                        <a:buNone/>
                      </a:pPr>
                      <a:r>
                        <a:rPr lang="en-US" b="0">
                          <a:effectLst/>
                          <a:latin typeface="+mn-lt"/>
                          <a:cs typeface="Times New Roman" panose="02020603050405020304" pitchFamily="18" charset="0"/>
                        </a:rPr>
                        <a:t>2</a:t>
                      </a:r>
                      <a:endParaRPr lang="en-US" b="0">
                        <a:effectLst/>
                        <a:latin typeface="+mn-lt"/>
                        <a:cs typeface="Times New Roman" panose="02020603050405020304" pitchFamily="18" charset="0"/>
                      </a:endParaRPr>
                    </a:p>
                  </a:txBody>
                  <a:tcPr/>
                </a:tc>
                <a:tc>
                  <a:txBody>
                    <a:bodyPr/>
                    <a:lstStyle/>
                    <a:p>
                      <a:pPr algn="just">
                        <a:buNone/>
                      </a:pPr>
                      <a:r>
                        <a:rPr lang="en-US" b="0" dirty="0">
                          <a:effectLst/>
                          <a:latin typeface="+mn-lt"/>
                          <a:cs typeface="Times New Roman" panose="02020603050405020304" pitchFamily="18" charset="0"/>
                        </a:rPr>
                        <a:t>Priyanshu . Porwal</a:t>
                      </a:r>
                      <a:endParaRPr lang="en-US" b="0" dirty="0">
                        <a:effectLst/>
                        <a:latin typeface="+mn-lt"/>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b="0">
                          <a:effectLst/>
                          <a:latin typeface="+mn-lt"/>
                          <a:cs typeface="Times New Roman" panose="02020603050405020304" pitchFamily="18" charset="0"/>
                        </a:rPr>
                        <a:t>02FE22BEC056</a:t>
                      </a:r>
                      <a:endParaRPr lang="en-US" b="0">
                        <a:effectLst/>
                        <a:latin typeface="+mn-lt"/>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b="0">
                          <a:effectLst/>
                          <a:latin typeface="+mn-lt"/>
                          <a:cs typeface="Times New Roman" panose="02020603050405020304" pitchFamily="18" charset="0"/>
                        </a:rPr>
                        <a:t>54</a:t>
                      </a:r>
                      <a:endParaRPr lang="en-US" b="0">
                        <a:effectLst/>
                        <a:latin typeface="+mn-lt"/>
                        <a:cs typeface="Times New Roman" panose="02020603050405020304" pitchFamily="18" charset="0"/>
                      </a:endParaRPr>
                    </a:p>
                  </a:txBody>
                  <a:tcPr/>
                </a:tc>
              </a:tr>
              <a:tr h="579607">
                <a:tc>
                  <a:txBody>
                    <a:bodyPr/>
                    <a:lstStyle/>
                    <a:p>
                      <a:pPr algn="just">
                        <a:buNone/>
                      </a:pPr>
                      <a:r>
                        <a:rPr lang="en-US" b="0">
                          <a:effectLst/>
                          <a:latin typeface="+mn-lt"/>
                          <a:cs typeface="Times New Roman" panose="02020603050405020304" pitchFamily="18" charset="0"/>
                        </a:rPr>
                        <a:t>3</a:t>
                      </a:r>
                      <a:endParaRPr lang="en-US" b="0">
                        <a:effectLst/>
                        <a:latin typeface="+mn-lt"/>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b="0" dirty="0">
                          <a:effectLst/>
                          <a:latin typeface="+mn-lt"/>
                          <a:cs typeface="Times New Roman" panose="02020603050405020304" pitchFamily="18" charset="0"/>
                        </a:rPr>
                        <a:t>Priyanka . Budihal</a:t>
                      </a:r>
                      <a:endParaRPr lang="en-US" b="0" dirty="0">
                        <a:effectLst/>
                        <a:latin typeface="+mn-lt"/>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b="0">
                          <a:effectLst/>
                          <a:latin typeface="+mn-lt"/>
                          <a:cs typeface="Times New Roman" panose="02020603050405020304" pitchFamily="18" charset="0"/>
                        </a:rPr>
                        <a:t>02FE22BEC054</a:t>
                      </a:r>
                      <a:endParaRPr lang="en-US" b="0">
                        <a:effectLst/>
                        <a:latin typeface="+mn-lt"/>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b="0">
                          <a:effectLst/>
                          <a:latin typeface="+mn-lt"/>
                          <a:cs typeface="Times New Roman" panose="02020603050405020304" pitchFamily="18" charset="0"/>
                        </a:rPr>
                        <a:t>52</a:t>
                      </a:r>
                      <a:endParaRPr lang="en-US" b="0">
                        <a:effectLst/>
                        <a:latin typeface="+mn-lt"/>
                        <a:cs typeface="Times New Roman" panose="02020603050405020304" pitchFamily="18" charset="0"/>
                      </a:endParaRPr>
                    </a:p>
                  </a:txBody>
                  <a:tcPr/>
                </a:tc>
              </a:tr>
              <a:tr h="579607">
                <a:tc>
                  <a:txBody>
                    <a:bodyPr/>
                    <a:lstStyle/>
                    <a:p>
                      <a:pPr algn="just">
                        <a:buNone/>
                      </a:pPr>
                      <a:r>
                        <a:rPr lang="en-US" b="0">
                          <a:effectLst/>
                          <a:latin typeface="+mn-lt"/>
                          <a:cs typeface="Times New Roman" panose="02020603050405020304" pitchFamily="18" charset="0"/>
                        </a:rPr>
                        <a:t>4</a:t>
                      </a:r>
                      <a:endParaRPr lang="en-US" b="0">
                        <a:effectLst/>
                        <a:latin typeface="+mn-lt"/>
                        <a:cs typeface="Times New Roman" panose="02020603050405020304" pitchFamily="18" charset="0"/>
                      </a:endParaRPr>
                    </a:p>
                  </a:txBody>
                  <a:tcPr/>
                </a:tc>
                <a:tc>
                  <a:txBody>
                    <a:bodyPr/>
                    <a:lstStyle/>
                    <a:p>
                      <a:pPr algn="just">
                        <a:buNone/>
                      </a:pPr>
                      <a:r>
                        <a:rPr lang="en-US" b="0" dirty="0">
                          <a:effectLst/>
                          <a:latin typeface="+mn-lt"/>
                          <a:cs typeface="Times New Roman" panose="02020603050405020304" pitchFamily="18" charset="0"/>
                        </a:rPr>
                        <a:t>Jamuna . Pulapatli</a:t>
                      </a:r>
                      <a:endParaRPr lang="en-US" b="0" dirty="0">
                        <a:effectLst/>
                        <a:latin typeface="+mn-lt"/>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b="0">
                          <a:effectLst/>
                          <a:latin typeface="+mn-lt"/>
                          <a:cs typeface="Times New Roman" panose="02020603050405020304" pitchFamily="18" charset="0"/>
                        </a:rPr>
                        <a:t>02FE23BEC032</a:t>
                      </a:r>
                      <a:endParaRPr lang="en-US" b="0">
                        <a:effectLst/>
                        <a:latin typeface="+mn-lt"/>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b="0" dirty="0">
                          <a:effectLst/>
                          <a:latin typeface="+mn-lt"/>
                          <a:cs typeface="Times New Roman" panose="02020603050405020304" pitchFamily="18" charset="0"/>
                        </a:rPr>
                        <a:t>32</a:t>
                      </a:r>
                      <a:endParaRPr lang="en-US" b="0" dirty="0">
                        <a:effectLst/>
                        <a:latin typeface="+mn-lt"/>
                        <a:cs typeface="Times New Roman" panose="02020603050405020304" pitchFamily="18" charset="0"/>
                      </a:endParaRPr>
                    </a:p>
                  </a:txBody>
                  <a:tcPr/>
                </a:tc>
              </a:tr>
            </a:tbl>
          </a:graphicData>
        </a:graphic>
      </p:graphicFrame>
      <p:sp>
        <p:nvSpPr>
          <p:cNvPr id="2" name="TextBox 1"/>
          <p:cNvSpPr txBox="1"/>
          <p:nvPr/>
        </p:nvSpPr>
        <p:spPr>
          <a:xfrm>
            <a:off x="1778595" y="1116101"/>
            <a:ext cx="9834465" cy="400110"/>
          </a:xfrm>
          <a:prstGeom prst="rect">
            <a:avLst/>
          </a:prstGeom>
          <a:noFill/>
        </p:spPr>
        <p:txBody>
          <a:bodyPr wrap="square" rtlCol="0">
            <a:spAutoFit/>
          </a:bodyPr>
          <a:lstStyle/>
          <a:p>
            <a:pPr algn="ctr"/>
            <a:r>
              <a:rPr lang="en-US" sz="2000" b="1"/>
              <a:t>DEPARTMENT OF ELECTRONICS AND COMMUNICATION</a:t>
            </a:r>
            <a:endParaRPr lang="en-IN" sz="2000" b="1"/>
          </a:p>
        </p:txBody>
      </p:sp>
      <p:sp>
        <p:nvSpPr>
          <p:cNvPr id="5" name="TextBox 4"/>
          <p:cNvSpPr txBox="1"/>
          <p:nvPr/>
        </p:nvSpPr>
        <p:spPr>
          <a:xfrm>
            <a:off x="5246692" y="1507405"/>
            <a:ext cx="2547257" cy="461665"/>
          </a:xfrm>
          <a:prstGeom prst="rect">
            <a:avLst/>
          </a:prstGeom>
          <a:noFill/>
        </p:spPr>
        <p:txBody>
          <a:bodyPr wrap="square" rtlCol="0">
            <a:spAutoFit/>
          </a:bodyPr>
          <a:lstStyle/>
          <a:p>
            <a:pPr algn="ctr"/>
            <a:r>
              <a:rPr lang="en-US" sz="2400" b="1"/>
              <a:t>MINI PROJECT</a:t>
            </a:r>
            <a:endParaRPr lang="en-IN" sz="2400" b="1"/>
          </a:p>
        </p:txBody>
      </p:sp>
      <p:sp>
        <p:nvSpPr>
          <p:cNvPr id="7" name="TextBox 6"/>
          <p:cNvSpPr txBox="1"/>
          <p:nvPr/>
        </p:nvSpPr>
        <p:spPr>
          <a:xfrm>
            <a:off x="3135086" y="1937230"/>
            <a:ext cx="6316824" cy="584775"/>
          </a:xfrm>
          <a:prstGeom prst="rect">
            <a:avLst/>
          </a:prstGeom>
          <a:noFill/>
        </p:spPr>
        <p:txBody>
          <a:bodyPr wrap="square" rtlCol="0">
            <a:spAutoFit/>
          </a:bodyPr>
          <a:lstStyle/>
          <a:p>
            <a:pPr algn="ctr"/>
            <a:r>
              <a:rPr lang="en-US" sz="3200" b="1"/>
              <a:t>TRAFFIC SIGN AUTO ASSISTANT.</a:t>
            </a:r>
            <a:endParaRPr lang="en-IN" sz="32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graphicFrame>
        <p:nvGraphicFramePr>
          <p:cNvPr id="4" name="Table 3"/>
          <p:cNvGraphicFramePr>
            <a:graphicFrameLocks noGrp="1"/>
          </p:cNvGraphicFramePr>
          <p:nvPr/>
        </p:nvGraphicFramePr>
        <p:xfrm>
          <a:off x="518160" y="859535"/>
          <a:ext cx="10961915" cy="5590340"/>
        </p:xfrm>
        <a:graphic>
          <a:graphicData uri="http://schemas.openxmlformats.org/drawingml/2006/table">
            <a:tbl>
              <a:tblPr firstRow="1" bandRow="1">
                <a:tableStyleId>{7DF18680-E054-41AD-8BC1-D1AEF772440D}</a:tableStyleId>
              </a:tblPr>
              <a:tblGrid>
                <a:gridCol w="1124897"/>
                <a:gridCol w="7611012"/>
                <a:gridCol w="2226006"/>
              </a:tblGrid>
              <a:tr h="399310">
                <a:tc>
                  <a:txBody>
                    <a:bodyPr/>
                    <a:lstStyle/>
                    <a:p>
                      <a:pPr algn="ctr"/>
                      <a:r>
                        <a:rPr lang="en-IN" dirty="0"/>
                        <a:t>SL.N0 </a:t>
                      </a:r>
                      <a:endParaRPr lang="en-IN" dirty="0"/>
                    </a:p>
                  </a:txBody>
                  <a:tcPr anchor="ctr"/>
                </a:tc>
                <a:tc>
                  <a:txBody>
                    <a:bodyPr/>
                    <a:lstStyle/>
                    <a:p>
                      <a:pPr algn="ctr"/>
                      <a:r>
                        <a:rPr lang="en-IN" dirty="0"/>
                        <a:t>Content</a:t>
                      </a:r>
                      <a:endParaRPr lang="en-IN" dirty="0"/>
                    </a:p>
                  </a:txBody>
                  <a:tcPr anchor="ctr"/>
                </a:tc>
                <a:tc>
                  <a:txBody>
                    <a:bodyPr/>
                    <a:lstStyle/>
                    <a:p>
                      <a:pPr algn="ctr"/>
                      <a:r>
                        <a:rPr lang="en-IN" dirty="0"/>
                        <a:t>Slide No.</a:t>
                      </a:r>
                      <a:endParaRPr lang="en-IN" dirty="0"/>
                    </a:p>
                  </a:txBody>
                  <a:tcPr anchor="ctr"/>
                </a:tc>
              </a:tr>
              <a:tr h="399310">
                <a:tc>
                  <a:txBody>
                    <a:bodyPr/>
                    <a:lstStyle/>
                    <a:p>
                      <a:pPr algn="ctr"/>
                      <a:r>
                        <a:rPr lang="en-IN" dirty="0"/>
                        <a:t>1</a:t>
                      </a:r>
                      <a:endParaRPr lang="en-IN" dirty="0"/>
                    </a:p>
                  </a:txBody>
                  <a:tcPr anchor="ctr"/>
                </a:tc>
                <a:tc>
                  <a:txBody>
                    <a:bodyPr/>
                    <a:lstStyle/>
                    <a:p>
                      <a:pPr algn="ctr"/>
                      <a:r>
                        <a:rPr lang="en-IN" dirty="0"/>
                        <a:t>Problem Statement</a:t>
                      </a:r>
                      <a:endParaRPr lang="en-IN" dirty="0"/>
                    </a:p>
                  </a:txBody>
                  <a:tcPr anchor="ctr"/>
                </a:tc>
                <a:tc>
                  <a:txBody>
                    <a:bodyPr/>
                    <a:lstStyle/>
                    <a:p>
                      <a:pPr algn="ctr"/>
                      <a:r>
                        <a:rPr lang="en-IN" dirty="0"/>
                        <a:t>3</a:t>
                      </a:r>
                      <a:endParaRPr lang="en-IN" dirty="0"/>
                    </a:p>
                  </a:txBody>
                  <a:tcPr anchor="ctr"/>
                </a:tc>
              </a:tr>
              <a:tr h="399310">
                <a:tc>
                  <a:txBody>
                    <a:bodyPr/>
                    <a:lstStyle/>
                    <a:p>
                      <a:pPr algn="ctr"/>
                      <a:r>
                        <a:rPr lang="en-IN" dirty="0"/>
                        <a:t>2</a:t>
                      </a:r>
                      <a:endParaRPr lang="en-IN" dirty="0"/>
                    </a:p>
                  </a:txBody>
                  <a:tcPr anchor="ctr"/>
                </a:tc>
                <a:tc>
                  <a:txBody>
                    <a:bodyPr/>
                    <a:lstStyle/>
                    <a:p>
                      <a:pPr algn="ctr"/>
                      <a:r>
                        <a:rPr lang="en-IN" dirty="0"/>
                        <a:t>Need Statement</a:t>
                      </a:r>
                      <a:endParaRPr lang="en-IN" dirty="0"/>
                    </a:p>
                  </a:txBody>
                  <a:tcPr anchor="ctr"/>
                </a:tc>
                <a:tc>
                  <a:txBody>
                    <a:bodyPr/>
                    <a:lstStyle/>
                    <a:p>
                      <a:pPr algn="ctr"/>
                      <a:r>
                        <a:rPr lang="en-IN" dirty="0"/>
                        <a:t>3</a:t>
                      </a:r>
                      <a:endParaRPr lang="en-IN" dirty="0"/>
                    </a:p>
                  </a:txBody>
                  <a:tcPr anchor="ctr"/>
                </a:tc>
              </a:tr>
              <a:tr h="399310">
                <a:tc>
                  <a:txBody>
                    <a:bodyPr/>
                    <a:lstStyle/>
                    <a:p>
                      <a:pPr algn="ctr"/>
                      <a:r>
                        <a:rPr lang="en-IN" dirty="0"/>
                        <a:t>3</a:t>
                      </a:r>
                      <a:endParaRPr lang="en-IN" dirty="0"/>
                    </a:p>
                  </a:txBody>
                  <a:tcPr anchor="ctr"/>
                </a:tc>
                <a:tc>
                  <a:txBody>
                    <a:bodyPr/>
                    <a:lstStyle/>
                    <a:p>
                      <a:pPr algn="ctr"/>
                      <a:r>
                        <a:rPr lang="en-IN" dirty="0"/>
                        <a:t>Literature Survey</a:t>
                      </a:r>
                      <a:endParaRPr lang="en-IN" dirty="0"/>
                    </a:p>
                  </a:txBody>
                  <a:tcPr anchor="ctr"/>
                </a:tc>
                <a:tc>
                  <a:txBody>
                    <a:bodyPr/>
                    <a:lstStyle/>
                    <a:p>
                      <a:pPr algn="ctr"/>
                      <a:r>
                        <a:rPr lang="en-IN" dirty="0"/>
                        <a:t>4-6</a:t>
                      </a:r>
                      <a:endParaRPr lang="en-IN" dirty="0"/>
                    </a:p>
                  </a:txBody>
                  <a:tcPr anchor="ctr"/>
                </a:tc>
              </a:tr>
              <a:tr h="399310">
                <a:tc>
                  <a:txBody>
                    <a:bodyPr/>
                    <a:lstStyle/>
                    <a:p>
                      <a:pPr algn="ctr"/>
                      <a:r>
                        <a:rPr lang="en-IN" dirty="0"/>
                        <a:t>4</a:t>
                      </a:r>
                      <a:endParaRPr lang="en-IN" dirty="0"/>
                    </a:p>
                  </a:txBody>
                  <a:tcPr anchor="ctr"/>
                </a:tc>
                <a:tc>
                  <a:txBody>
                    <a:bodyPr/>
                    <a:lstStyle/>
                    <a:p>
                      <a:pPr algn="ctr"/>
                      <a:r>
                        <a:rPr lang="en-IN" dirty="0"/>
                        <a:t>Objectives</a:t>
                      </a:r>
                      <a:endParaRPr lang="en-IN" dirty="0"/>
                    </a:p>
                  </a:txBody>
                  <a:tcPr anchor="ctr"/>
                </a:tc>
                <a:tc>
                  <a:txBody>
                    <a:bodyPr/>
                    <a:lstStyle/>
                    <a:p>
                      <a:pPr algn="ctr"/>
                      <a:r>
                        <a:rPr lang="en-IN" dirty="0"/>
                        <a:t>7</a:t>
                      </a:r>
                      <a:endParaRPr lang="en-IN" dirty="0"/>
                    </a:p>
                  </a:txBody>
                  <a:tcPr anchor="ctr"/>
                </a:tc>
              </a:tr>
              <a:tr h="399310">
                <a:tc>
                  <a:txBody>
                    <a:bodyPr/>
                    <a:lstStyle/>
                    <a:p>
                      <a:pPr algn="ctr"/>
                      <a:r>
                        <a:rPr lang="en-IN" dirty="0"/>
                        <a:t>5</a:t>
                      </a:r>
                      <a:endParaRPr lang="en-IN" dirty="0"/>
                    </a:p>
                  </a:txBody>
                  <a:tcPr anchor="ctr"/>
                </a:tc>
                <a:tc>
                  <a:txBody>
                    <a:bodyPr/>
                    <a:lstStyle/>
                    <a:p>
                      <a:pPr algn="ctr"/>
                      <a:r>
                        <a:rPr lang="en-IN" dirty="0"/>
                        <a:t>Multiple Solution</a:t>
                      </a:r>
                      <a:endParaRPr lang="en-IN" dirty="0"/>
                    </a:p>
                  </a:txBody>
                  <a:tcPr anchor="ctr"/>
                </a:tc>
                <a:tc>
                  <a:txBody>
                    <a:bodyPr/>
                    <a:lstStyle/>
                    <a:p>
                      <a:pPr algn="ctr"/>
                      <a:r>
                        <a:rPr lang="en-IN" dirty="0"/>
                        <a:t>8</a:t>
                      </a:r>
                      <a:endParaRPr lang="en-IN" dirty="0"/>
                    </a:p>
                  </a:txBody>
                  <a:tcPr anchor="ctr"/>
                </a:tc>
              </a:tr>
              <a:tr h="399310">
                <a:tc>
                  <a:txBody>
                    <a:bodyPr/>
                    <a:lstStyle/>
                    <a:p>
                      <a:pPr algn="ctr"/>
                      <a:r>
                        <a:rPr lang="en-IN" dirty="0"/>
                        <a:t>6</a:t>
                      </a:r>
                      <a:endParaRPr lang="en-IN" dirty="0"/>
                    </a:p>
                  </a:txBody>
                  <a:tcPr anchor="ctr"/>
                </a:tc>
                <a:tc>
                  <a:txBody>
                    <a:bodyPr/>
                    <a:lstStyle/>
                    <a:p>
                      <a:pPr algn="ctr"/>
                      <a:r>
                        <a:rPr lang="en-IN" dirty="0"/>
                        <a:t>Methodology</a:t>
                      </a:r>
                      <a:endParaRPr lang="en-IN" dirty="0"/>
                    </a:p>
                  </a:txBody>
                  <a:tcPr anchor="ctr"/>
                </a:tc>
                <a:tc>
                  <a:txBody>
                    <a:bodyPr/>
                    <a:lstStyle/>
                    <a:p>
                      <a:pPr algn="ctr"/>
                      <a:r>
                        <a:rPr lang="en-IN" dirty="0"/>
                        <a:t>9</a:t>
                      </a:r>
                      <a:endParaRPr lang="en-IN" dirty="0"/>
                    </a:p>
                  </a:txBody>
                  <a:tcPr anchor="ctr"/>
                </a:tc>
              </a:tr>
              <a:tr h="399310">
                <a:tc>
                  <a:txBody>
                    <a:bodyPr/>
                    <a:lstStyle/>
                    <a:p>
                      <a:pPr algn="ctr"/>
                      <a:r>
                        <a:rPr lang="en-IN" dirty="0"/>
                        <a:t>7</a:t>
                      </a:r>
                      <a:endParaRPr lang="en-IN" dirty="0"/>
                    </a:p>
                  </a:txBody>
                  <a:tcPr anchor="ctr"/>
                </a:tc>
                <a:tc>
                  <a:txBody>
                    <a:bodyPr/>
                    <a:lstStyle/>
                    <a:p>
                      <a:pPr algn="ctr"/>
                      <a:r>
                        <a:rPr lang="en-IN" dirty="0"/>
                        <a:t>Work Breakdown Structure</a:t>
                      </a:r>
                      <a:endParaRPr lang="en-IN" dirty="0"/>
                    </a:p>
                  </a:txBody>
                  <a:tcPr anchor="ctr"/>
                </a:tc>
                <a:tc>
                  <a:txBody>
                    <a:bodyPr/>
                    <a:lstStyle/>
                    <a:p>
                      <a:pPr algn="ctr"/>
                      <a:r>
                        <a:rPr lang="en-IN" dirty="0"/>
                        <a:t>10</a:t>
                      </a:r>
                      <a:endParaRPr lang="en-IN" dirty="0"/>
                    </a:p>
                  </a:txBody>
                  <a:tcPr anchor="ctr"/>
                </a:tc>
              </a:tr>
              <a:tr h="399310">
                <a:tc>
                  <a:txBody>
                    <a:bodyPr/>
                    <a:lstStyle/>
                    <a:p>
                      <a:pPr algn="ctr"/>
                      <a:r>
                        <a:rPr lang="en-IN" dirty="0"/>
                        <a:t>8</a:t>
                      </a:r>
                      <a:endParaRPr lang="en-IN" dirty="0"/>
                    </a:p>
                  </a:txBody>
                  <a:tcPr anchor="ctr"/>
                </a:tc>
                <a:tc>
                  <a:txBody>
                    <a:bodyPr/>
                    <a:lstStyle/>
                    <a:p>
                      <a:pPr algn="ctr"/>
                      <a:r>
                        <a:rPr lang="en-IN" dirty="0"/>
                        <a:t>Input Specification</a:t>
                      </a:r>
                      <a:endParaRPr lang="en-IN" dirty="0"/>
                    </a:p>
                  </a:txBody>
                  <a:tcPr anchor="ctr"/>
                </a:tc>
                <a:tc>
                  <a:txBody>
                    <a:bodyPr/>
                    <a:lstStyle/>
                    <a:p>
                      <a:pPr algn="ctr"/>
                      <a:r>
                        <a:rPr lang="en-IN" dirty="0"/>
                        <a:t>11</a:t>
                      </a:r>
                      <a:endParaRPr lang="en-IN" dirty="0"/>
                    </a:p>
                  </a:txBody>
                  <a:tcPr anchor="ctr"/>
                </a:tc>
              </a:tr>
              <a:tr h="399310">
                <a:tc>
                  <a:txBody>
                    <a:bodyPr/>
                    <a:lstStyle/>
                    <a:p>
                      <a:pPr algn="ctr"/>
                      <a:r>
                        <a:rPr lang="en-IN" dirty="0"/>
                        <a:t>9</a:t>
                      </a:r>
                      <a:endParaRPr lang="en-IN" dirty="0"/>
                    </a:p>
                  </a:txBody>
                  <a:tcPr anchor="ctr"/>
                </a:tc>
                <a:tc>
                  <a:txBody>
                    <a:bodyPr/>
                    <a:lstStyle/>
                    <a:p>
                      <a:pPr algn="ctr"/>
                      <a:r>
                        <a:rPr lang="en-IN" dirty="0"/>
                        <a:t>Output Specification</a:t>
                      </a:r>
                      <a:endParaRPr lang="en-IN" dirty="0"/>
                    </a:p>
                  </a:txBody>
                  <a:tcPr anchor="ctr"/>
                </a:tc>
                <a:tc>
                  <a:txBody>
                    <a:bodyPr/>
                    <a:lstStyle/>
                    <a:p>
                      <a:pPr algn="ctr"/>
                      <a:r>
                        <a:rPr lang="en-IN" dirty="0"/>
                        <a:t>12</a:t>
                      </a:r>
                      <a:endParaRPr lang="en-IN" dirty="0"/>
                    </a:p>
                  </a:txBody>
                  <a:tcPr anchor="ctr"/>
                </a:tc>
              </a:tr>
              <a:tr h="399310">
                <a:tc>
                  <a:txBody>
                    <a:bodyPr/>
                    <a:lstStyle/>
                    <a:p>
                      <a:pPr algn="ctr"/>
                      <a:r>
                        <a:rPr lang="en-IN" dirty="0"/>
                        <a:t>10</a:t>
                      </a:r>
                      <a:endParaRPr lang="en-IN" dirty="0"/>
                    </a:p>
                  </a:txBody>
                  <a:tcPr anchor="ctr"/>
                </a:tc>
                <a:tc>
                  <a:txBody>
                    <a:bodyPr/>
                    <a:lstStyle/>
                    <a:p>
                      <a:pPr algn="ctr"/>
                      <a:r>
                        <a:rPr lang="en-IN" dirty="0"/>
                        <a:t>Detailed Block Diagram</a:t>
                      </a:r>
                      <a:endParaRPr lang="en-IN" dirty="0"/>
                    </a:p>
                  </a:txBody>
                  <a:tcPr anchor="ctr"/>
                </a:tc>
                <a:tc>
                  <a:txBody>
                    <a:bodyPr/>
                    <a:lstStyle/>
                    <a:p>
                      <a:pPr algn="ctr"/>
                      <a:r>
                        <a:rPr lang="en-IN" dirty="0"/>
                        <a:t>13</a:t>
                      </a:r>
                      <a:endParaRPr lang="en-IN" dirty="0"/>
                    </a:p>
                  </a:txBody>
                  <a:tcPr anchor="ctr"/>
                </a:tc>
              </a:tr>
              <a:tr h="399310">
                <a:tc>
                  <a:txBody>
                    <a:bodyPr/>
                    <a:lstStyle/>
                    <a:p>
                      <a:pPr algn="ctr"/>
                      <a:r>
                        <a:rPr lang="en-IN" dirty="0"/>
                        <a:t>11</a:t>
                      </a:r>
                      <a:endParaRPr lang="en-IN" dirty="0"/>
                    </a:p>
                  </a:txBody>
                  <a:tcPr anchor="ctr"/>
                </a:tc>
                <a:tc>
                  <a:txBody>
                    <a:bodyPr/>
                    <a:lstStyle/>
                    <a:p>
                      <a:pPr algn="ctr"/>
                      <a:r>
                        <a:rPr lang="en-IN" dirty="0"/>
                        <a:t>Bill of Material</a:t>
                      </a:r>
                      <a:endParaRPr lang="en-IN" dirty="0"/>
                    </a:p>
                  </a:txBody>
                  <a:tcPr anchor="ctr"/>
                </a:tc>
                <a:tc>
                  <a:txBody>
                    <a:bodyPr/>
                    <a:lstStyle/>
                    <a:p>
                      <a:pPr algn="ctr"/>
                      <a:r>
                        <a:rPr lang="en-IN" dirty="0"/>
                        <a:t>14</a:t>
                      </a:r>
                      <a:endParaRPr lang="en-IN" dirty="0"/>
                    </a:p>
                  </a:txBody>
                  <a:tcPr anchor="ctr"/>
                </a:tc>
              </a:tr>
              <a:tr h="399310">
                <a:tc>
                  <a:txBody>
                    <a:bodyPr/>
                    <a:lstStyle/>
                    <a:p>
                      <a:pPr algn="ctr"/>
                      <a:r>
                        <a:rPr lang="en-IN" dirty="0"/>
                        <a:t>12</a:t>
                      </a:r>
                      <a:endParaRPr lang="en-IN" dirty="0"/>
                    </a:p>
                  </a:txBody>
                  <a:tcPr anchor="ctr"/>
                </a:tc>
                <a:tc>
                  <a:txBody>
                    <a:bodyPr/>
                    <a:lstStyle/>
                    <a:p>
                      <a:pPr algn="ctr"/>
                      <a:r>
                        <a:rPr lang="en-IN" dirty="0"/>
                        <a:t>Result</a:t>
                      </a:r>
                      <a:endParaRPr lang="en-IN" dirty="0"/>
                    </a:p>
                  </a:txBody>
                  <a:tcPr anchor="ctr"/>
                </a:tc>
                <a:tc>
                  <a:txBody>
                    <a:bodyPr/>
                    <a:lstStyle/>
                    <a:p>
                      <a:pPr algn="ctr"/>
                      <a:r>
                        <a:rPr lang="en-IN" dirty="0"/>
                        <a:t>15</a:t>
                      </a:r>
                      <a:endParaRPr lang="en-IN" dirty="0"/>
                    </a:p>
                  </a:txBody>
                  <a:tcPr anchor="ctr"/>
                </a:tc>
              </a:tr>
              <a:tr h="399310">
                <a:tc>
                  <a:txBody>
                    <a:bodyPr/>
                    <a:lstStyle/>
                    <a:p>
                      <a:pPr algn="ctr"/>
                      <a:r>
                        <a:rPr lang="en-IN" dirty="0"/>
                        <a:t>13</a:t>
                      </a:r>
                      <a:endParaRPr lang="en-IN" dirty="0"/>
                    </a:p>
                  </a:txBody>
                  <a:tcPr anchor="ctr"/>
                </a:tc>
                <a:tc>
                  <a:txBody>
                    <a:bodyPr/>
                    <a:lstStyle/>
                    <a:p>
                      <a:pPr algn="ctr"/>
                      <a:r>
                        <a:rPr lang="en-IN" dirty="0"/>
                        <a:t>Conclusion</a:t>
                      </a:r>
                      <a:endParaRPr lang="en-IN" dirty="0"/>
                    </a:p>
                  </a:txBody>
                  <a:tcPr anchor="ctr"/>
                </a:tc>
                <a:tc>
                  <a:txBody>
                    <a:bodyPr/>
                    <a:lstStyle/>
                    <a:p>
                      <a:pPr algn="ctr"/>
                      <a:r>
                        <a:rPr lang="en-IN" dirty="0"/>
                        <a:t>16</a:t>
                      </a:r>
                      <a:endParaRPr lang="en-IN" dirty="0"/>
                    </a:p>
                  </a:txBody>
                  <a:tcPr anchor="ctr"/>
                </a:tc>
              </a:tr>
            </a:tbl>
          </a:graphicData>
        </a:graphic>
      </p:graphicFrame>
      <p:sp>
        <p:nvSpPr>
          <p:cNvPr id="5" name="TextBox 4"/>
          <p:cNvSpPr txBox="1"/>
          <p:nvPr/>
        </p:nvSpPr>
        <p:spPr>
          <a:xfrm>
            <a:off x="4782312" y="0"/>
            <a:ext cx="3310128" cy="769441"/>
          </a:xfrm>
          <a:prstGeom prst="rect">
            <a:avLst/>
          </a:prstGeom>
          <a:noFill/>
        </p:spPr>
        <p:txBody>
          <a:bodyPr wrap="square" rtlCol="0">
            <a:spAutoFit/>
          </a:bodyPr>
          <a:lstStyle/>
          <a:p>
            <a:r>
              <a:rPr lang="en-IN" sz="4400" b="1" dirty="0"/>
              <a:t>INDEX</a:t>
            </a:r>
            <a:endParaRPr lang="en-IN" sz="4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5" name="TextBox 4"/>
          <p:cNvSpPr txBox="1"/>
          <p:nvPr/>
        </p:nvSpPr>
        <p:spPr>
          <a:xfrm>
            <a:off x="497840" y="508000"/>
            <a:ext cx="11226800" cy="4678204"/>
          </a:xfrm>
          <a:prstGeom prst="rect">
            <a:avLst/>
          </a:prstGeom>
          <a:noFill/>
        </p:spPr>
        <p:txBody>
          <a:bodyPr wrap="square" rtlCol="0">
            <a:spAutoFit/>
          </a:bodyPr>
          <a:lstStyle/>
          <a:p>
            <a:pPr algn="just"/>
            <a:r>
              <a:rPr lang="en-IN" sz="3200" b="1" dirty="0"/>
              <a:t>Problem Statement</a:t>
            </a:r>
            <a:r>
              <a:rPr lang="en-IN" dirty="0"/>
              <a:t>:</a:t>
            </a:r>
            <a:endParaRPr lang="en-IN" dirty="0"/>
          </a:p>
          <a:p>
            <a:pPr algn="just"/>
            <a:endParaRPr lang="en-IN" dirty="0"/>
          </a:p>
          <a:p>
            <a:pPr algn="just"/>
            <a:r>
              <a:rPr lang="en-US" sz="2400" dirty="0">
                <a:solidFill>
                  <a:srgbClr val="000000"/>
                </a:solidFill>
                <a:effectLst/>
                <a:latin typeface="Calibri" panose="020F0502020204030204" pitchFamily="34" charset="0"/>
                <a:ea typeface="Calibri" panose="020F0502020204030204" pitchFamily="34" charset="0"/>
              </a:rPr>
              <a:t>We aim to design a smart system that can detect and interpret road signs in real-time and convert detected text into voice alerts using a compact machine learning model. This system is optimized for portable devices, allowing it to operate independently on small, low-power hard- ware without requiring extensive computational resources.</a:t>
            </a:r>
            <a:endParaRPr lang="en-IN" sz="2400" dirty="0">
              <a:effectLst/>
              <a:latin typeface="Calibri" panose="020F0502020204030204" pitchFamily="34" charset="0"/>
              <a:ea typeface="Calibri" panose="020F0502020204030204" pitchFamily="34" charset="0"/>
            </a:endParaRPr>
          </a:p>
          <a:p>
            <a:pPr algn="just"/>
            <a:endParaRPr lang="en-US" sz="2400" dirty="0"/>
          </a:p>
          <a:p>
            <a:pPr algn="just"/>
            <a:endParaRPr lang="en-US" sz="2400" dirty="0"/>
          </a:p>
          <a:p>
            <a:pPr algn="just"/>
            <a:r>
              <a:rPr lang="en-US" sz="3200" b="1" dirty="0"/>
              <a:t>Need Statement</a:t>
            </a:r>
            <a:r>
              <a:rPr lang="en-US" sz="2400" dirty="0"/>
              <a:t>:</a:t>
            </a:r>
            <a:endParaRPr lang="en-US" sz="2400" dirty="0"/>
          </a:p>
          <a:p>
            <a:pPr algn="just"/>
            <a:endParaRPr lang="en-US" sz="2400" dirty="0"/>
          </a:p>
          <a:p>
            <a:pPr algn="just"/>
            <a:r>
              <a:rPr lang="en-US" sz="2400" dirty="0"/>
              <a:t>Develop a Road Sign Detection and Voice Alert Model for Enhanced Driver Awareness using Real-Time Image Processing.</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0" y="136525"/>
            <a:ext cx="11076971"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200" b="1" dirty="0">
                <a:ea typeface="+mn-lt"/>
                <a:cs typeface="+mn-lt"/>
              </a:rPr>
              <a:t>Literature Survey:</a:t>
            </a:r>
            <a:endParaRPr lang="en-US" sz="3200" b="1" dirty="0">
              <a:ea typeface="+mn-lt"/>
              <a:cs typeface="+mn-lt"/>
            </a:endParaRPr>
          </a:p>
          <a:p>
            <a:endParaRPr lang="en-US" sz="3200" b="1" dirty="0">
              <a:ea typeface="+mn-lt"/>
              <a:cs typeface="+mn-lt"/>
            </a:endParaRPr>
          </a:p>
          <a:p>
            <a:pPr marL="342900" indent="-342900" algn="just">
              <a:buFont typeface="Arial" panose="020B0604020202020204"/>
              <a:buChar char="•"/>
            </a:pPr>
            <a:endParaRPr lang="en-US" sz="2400" dirty="0">
              <a:ea typeface="Calibri" panose="020F0502020204030204"/>
              <a:cs typeface="Calibri" panose="020F0502020204030204"/>
            </a:endParaRPr>
          </a:p>
          <a:p>
            <a:pPr marL="342900" indent="-342900" algn="just">
              <a:buFont typeface="Arial" panose="020B0604020202020204"/>
              <a:buChar char="•"/>
            </a:pPr>
            <a:endParaRPr lang="en-US" sz="2400" b="1" dirty="0">
              <a:ea typeface="Calibri" panose="020F0502020204030204"/>
              <a:cs typeface="Calibri" panose="020F0502020204030204"/>
            </a:endParaRPr>
          </a:p>
          <a:p>
            <a:endParaRPr lang="en-US" sz="3200" b="1" dirty="0">
              <a:ea typeface="Calibri" panose="020F0502020204030204"/>
              <a:cs typeface="Calibri" panose="020F0502020204030204"/>
            </a:endParaRPr>
          </a:p>
          <a:p>
            <a:endParaRPr lang="en-US" dirty="0">
              <a:ea typeface="Calibri" panose="020F0502020204030204"/>
              <a:cs typeface="Calibri" panose="020F0502020204030204"/>
            </a:endParaRPr>
          </a:p>
        </p:txBody>
      </p:sp>
      <p:graphicFrame>
        <p:nvGraphicFramePr>
          <p:cNvPr id="5" name="Table 4"/>
          <p:cNvGraphicFramePr>
            <a:graphicFrameLocks noGrp="1"/>
          </p:cNvGraphicFramePr>
          <p:nvPr/>
        </p:nvGraphicFramePr>
        <p:xfrm>
          <a:off x="128343" y="757597"/>
          <a:ext cx="11935314" cy="5957375"/>
        </p:xfrm>
        <a:graphic>
          <a:graphicData uri="http://schemas.openxmlformats.org/drawingml/2006/table">
            <a:tbl>
              <a:tblPr firstRow="1" bandRow="1">
                <a:tableStyleId>{5C22544A-7EE6-4342-B048-85BDC9FD1C3A}</a:tableStyleId>
              </a:tblPr>
              <a:tblGrid>
                <a:gridCol w="770492"/>
                <a:gridCol w="1716349"/>
                <a:gridCol w="2928803"/>
                <a:gridCol w="2493589"/>
                <a:gridCol w="2103120"/>
                <a:gridCol w="1922961"/>
              </a:tblGrid>
              <a:tr h="473766">
                <a:tc>
                  <a:txBody>
                    <a:bodyPr/>
                    <a:lstStyle/>
                    <a:p>
                      <a:pPr algn="just"/>
                      <a:r>
                        <a:rPr lang="en-IN" dirty="0"/>
                        <a:t>Sl.NO</a:t>
                      </a:r>
                      <a:endParaRPr lang="en-IN" dirty="0"/>
                    </a:p>
                  </a:txBody>
                  <a:tcPr/>
                </a:tc>
                <a:tc>
                  <a:txBody>
                    <a:bodyPr/>
                    <a:lstStyle/>
                    <a:p>
                      <a:pPr algn="just"/>
                      <a:r>
                        <a:rPr lang="en-IN" dirty="0"/>
                        <a:t>Paper name</a:t>
                      </a:r>
                      <a:endParaRPr lang="en-IN" dirty="0"/>
                    </a:p>
                  </a:txBody>
                  <a:tcPr/>
                </a:tc>
                <a:tc>
                  <a:txBody>
                    <a:bodyPr/>
                    <a:lstStyle/>
                    <a:p>
                      <a:pPr algn="just"/>
                      <a:r>
                        <a:rPr lang="en-IN" dirty="0"/>
                        <a:t>Objectives</a:t>
                      </a:r>
                      <a:endParaRPr lang="en-IN" dirty="0"/>
                    </a:p>
                  </a:txBody>
                  <a:tcPr/>
                </a:tc>
                <a:tc>
                  <a:txBody>
                    <a:bodyPr/>
                    <a:lstStyle/>
                    <a:p>
                      <a:pPr algn="just"/>
                      <a:r>
                        <a:rPr lang="en-IN" dirty="0"/>
                        <a:t>Techniques</a:t>
                      </a:r>
                      <a:endParaRPr lang="en-IN" dirty="0"/>
                    </a:p>
                  </a:txBody>
                  <a:tcPr/>
                </a:tc>
                <a:tc>
                  <a:txBody>
                    <a:bodyPr/>
                    <a:lstStyle/>
                    <a:p>
                      <a:pPr algn="just"/>
                      <a:r>
                        <a:rPr lang="en-IN" dirty="0"/>
                        <a:t>Advantages</a:t>
                      </a:r>
                      <a:endParaRPr lang="en-IN" dirty="0"/>
                    </a:p>
                  </a:txBody>
                  <a:tcPr/>
                </a:tc>
                <a:tc>
                  <a:txBody>
                    <a:bodyPr/>
                    <a:lstStyle/>
                    <a:p>
                      <a:pPr algn="just"/>
                      <a:r>
                        <a:rPr lang="en-IN" dirty="0"/>
                        <a:t>Limitations</a:t>
                      </a:r>
                      <a:endParaRPr lang="en-IN" dirty="0"/>
                    </a:p>
                  </a:txBody>
                  <a:tcPr/>
                </a:tc>
              </a:tr>
              <a:tr h="1826009">
                <a:tc>
                  <a:txBody>
                    <a:bodyPr/>
                    <a:lstStyle/>
                    <a:p>
                      <a:pPr algn="just"/>
                      <a:r>
                        <a:rPr lang="en-IN" dirty="0"/>
                        <a:t>1.</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1800" dirty="0"/>
                        <a:t>Deep Neural Networks for Real-Time Road Sign Detection</a:t>
                      </a:r>
                      <a:endParaRPr lang="en-IN" sz="1800" dirty="0"/>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1800" dirty="0"/>
                        <a:t>Real-time road sign detection adaptable to large-scale road networks</a:t>
                      </a:r>
                      <a:endParaRPr lang="en-IN" sz="1800" dirty="0"/>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1800" dirty="0"/>
                        <a:t>- Utilizes CNNs to extract robust features; tested on German Traffic Sign Benchmark</a:t>
                      </a:r>
                      <a:endParaRPr lang="en-IN" sz="1800" dirty="0"/>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1800" dirty="0"/>
                        <a:t>High accuracy, adaptable to diverse environments</a:t>
                      </a:r>
                      <a:endParaRPr lang="en-IN" sz="1800" dirty="0"/>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1800" dirty="0"/>
                        <a:t>High computational demand, less suitable for low-power devices</a:t>
                      </a:r>
                      <a:endParaRPr lang="en-IN" sz="1800" dirty="0"/>
                    </a:p>
                    <a:p>
                      <a:pPr algn="just"/>
                      <a:endParaRPr lang="en-IN" dirty="0"/>
                    </a:p>
                  </a:txBody>
                  <a:tcPr/>
                </a:tc>
              </a:tr>
              <a:tr h="3416579">
                <a:tc>
                  <a:txBody>
                    <a:bodyPr/>
                    <a:lstStyle/>
                    <a:p>
                      <a:pPr algn="just"/>
                      <a:r>
                        <a:rPr lang="en-IN" dirty="0"/>
                        <a:t>2.</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t>Traffic Sign Recognition Based on CNN and Twin Support Vector Machine Hybrid Model</a:t>
                      </a:r>
                      <a:endParaRPr lang="en-US" dirty="0"/>
                    </a:p>
                    <a:p>
                      <a:pPr algn="just"/>
                      <a:endParaRPr lang="en-IN" dirty="0"/>
                    </a:p>
                  </a:txBody>
                  <a:tcPr/>
                </a:tc>
                <a:tc>
                  <a:txBody>
                    <a:bodyPr/>
                    <a:lstStyle/>
                    <a:p>
                      <a:pPr algn="just"/>
                      <a:r>
                        <a:rPr lang="en-IN" b="0" dirty="0"/>
                        <a:t>- Improve Accuracy: </a:t>
                      </a:r>
                      <a:r>
                        <a:rPr lang="en-IN" dirty="0"/>
                        <a:t>Develop a CNN-TWSVM hybrid model with a wavelet kernel for robust traffic sign recognition.</a:t>
                      </a:r>
                      <a:endParaRPr lang="en-IN" dirty="0"/>
                    </a:p>
                    <a:p>
                      <a:pPr algn="just"/>
                      <a:r>
                        <a:rPr lang="en-IN" b="0" dirty="0"/>
                        <a:t>- Enhance Generalization: </a:t>
                      </a:r>
                      <a:r>
                        <a:rPr lang="en-IN" dirty="0"/>
                        <a:t>Use transfer learning to reduce overfitting and improve performance.</a:t>
                      </a:r>
                      <a:endParaRPr lang="en-IN" dirty="0"/>
                    </a:p>
                    <a:p>
                      <a:pPr algn="just"/>
                      <a:endParaRPr lang="en-IN" dirty="0"/>
                    </a:p>
                  </a:txBody>
                  <a:tcPr/>
                </a:tc>
                <a:tc>
                  <a:txBody>
                    <a:bodyPr/>
                    <a:lstStyle/>
                    <a:p>
                      <a:pPr algn="just"/>
                      <a:r>
                        <a:rPr lang="en-US" sz="1800" dirty="0"/>
                        <a:t>-</a:t>
                      </a:r>
                      <a:r>
                        <a:rPr lang="en-US" dirty="0"/>
                        <a:t>CNN for feature extraction, transfer learning with VGG16, TWSVM with a wavelet kernel for non-linear classification.</a:t>
                      </a:r>
                      <a:endParaRPr lang="en-US" dirty="0"/>
                    </a:p>
                    <a:p>
                      <a:pPr algn="just"/>
                      <a:endParaRPr lang="en-US" dirty="0"/>
                    </a:p>
                    <a:p>
                      <a:pPr marL="0" marR="0" lvl="0" indent="0" algn="just" defTabSz="914400" rtl="0" eaLnBrk="1" fontAlgn="auto" latinLnBrk="0" hangingPunct="1">
                        <a:lnSpc>
                          <a:spcPct val="100000"/>
                        </a:lnSpc>
                        <a:spcBef>
                          <a:spcPts val="0"/>
                        </a:spcBef>
                        <a:spcAft>
                          <a:spcPts val="0"/>
                        </a:spcAft>
                        <a:buClrTx/>
                        <a:buSzTx/>
                        <a:buFontTx/>
                        <a:buNone/>
                        <a:defRPr/>
                      </a:pPr>
                      <a:endParaRPr lang="en-IN" dirty="0"/>
                    </a:p>
                  </a:txBody>
                  <a:tcPr/>
                </a:tc>
                <a:tc>
                  <a:txBody>
                    <a:bodyPr/>
                    <a:lstStyle/>
                    <a:p>
                      <a:pPr algn="just"/>
                      <a:r>
                        <a:rPr lang="en-US" dirty="0"/>
                        <a:t>- Achieves high accuracy and robust performance, even on small datasets.</a:t>
                      </a:r>
                      <a:endParaRPr lang="en-US" dirty="0"/>
                    </a:p>
                    <a:p>
                      <a:pPr algn="just"/>
                      <a:r>
                        <a:rPr lang="en-US" dirty="0"/>
                        <a:t>- Reduces overfitting and improves generalization using advanced techniques like transfer learning.</a:t>
                      </a:r>
                      <a:endParaRPr lang="en-US" dirty="0"/>
                    </a:p>
                    <a:p>
                      <a:pPr algn="just"/>
                      <a:endParaRPr lang="en-IN" dirty="0"/>
                    </a:p>
                  </a:txBody>
                  <a:tcPr/>
                </a:tc>
                <a:tc>
                  <a:txBody>
                    <a:bodyPr/>
                    <a:lstStyle/>
                    <a:p>
                      <a:pPr algn="just"/>
                      <a:r>
                        <a:rPr lang="en-US" dirty="0"/>
                        <a:t>The model demands high computational resources and relies on the quality of pre-trained networks and dataset diversity for optimal performance.</a:t>
                      </a:r>
                      <a:endParaRPr lang="en-US" dirty="0"/>
                    </a:p>
                    <a:p>
                      <a:pPr algn="just"/>
                      <a:endParaRPr lang="en-US" dirty="0"/>
                    </a:p>
                    <a:p>
                      <a:pPr algn="just"/>
                      <a:endParaRPr lang="en-IN" dirty="0"/>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graphicFrame>
        <p:nvGraphicFramePr>
          <p:cNvPr id="4" name="Table 3"/>
          <p:cNvGraphicFramePr>
            <a:graphicFrameLocks noGrp="1"/>
          </p:cNvGraphicFramePr>
          <p:nvPr/>
        </p:nvGraphicFramePr>
        <p:xfrm>
          <a:off x="82296" y="136524"/>
          <a:ext cx="12006072" cy="6219825"/>
        </p:xfrm>
        <a:graphic>
          <a:graphicData uri="http://schemas.openxmlformats.org/drawingml/2006/table">
            <a:tbl>
              <a:tblPr firstRow="1" bandRow="1">
                <a:tableStyleId>{5C22544A-7EE6-4342-B048-85BDC9FD1C3A}</a:tableStyleId>
              </a:tblPr>
              <a:tblGrid>
                <a:gridCol w="777240"/>
                <a:gridCol w="1838066"/>
                <a:gridCol w="3008254"/>
                <a:gridCol w="1901952"/>
                <a:gridCol w="2479548"/>
                <a:gridCol w="2001012"/>
              </a:tblGrid>
              <a:tr h="400042">
                <a:tc>
                  <a:txBody>
                    <a:bodyPr/>
                    <a:lstStyle/>
                    <a:p>
                      <a:pPr algn="just"/>
                      <a:r>
                        <a:rPr lang="en-IN" dirty="0"/>
                        <a:t>Sl.NO</a:t>
                      </a:r>
                      <a:endParaRPr lang="en-IN" dirty="0"/>
                    </a:p>
                  </a:txBody>
                  <a:tcPr/>
                </a:tc>
                <a:tc>
                  <a:txBody>
                    <a:bodyPr/>
                    <a:lstStyle/>
                    <a:p>
                      <a:pPr algn="just"/>
                      <a:r>
                        <a:rPr lang="en-IN" dirty="0"/>
                        <a:t>Paper name </a:t>
                      </a:r>
                      <a:endParaRPr lang="en-IN" dirty="0"/>
                    </a:p>
                  </a:txBody>
                  <a:tcPr/>
                </a:tc>
                <a:tc>
                  <a:txBody>
                    <a:bodyPr/>
                    <a:lstStyle/>
                    <a:p>
                      <a:pPr algn="just"/>
                      <a:r>
                        <a:rPr lang="en-IN" dirty="0"/>
                        <a:t>Objectives</a:t>
                      </a:r>
                      <a:endParaRPr lang="en-IN" dirty="0"/>
                    </a:p>
                  </a:txBody>
                  <a:tcPr/>
                </a:tc>
                <a:tc>
                  <a:txBody>
                    <a:bodyPr/>
                    <a:lstStyle/>
                    <a:p>
                      <a:pPr algn="just"/>
                      <a:r>
                        <a:rPr lang="en-IN" dirty="0"/>
                        <a:t>Techniques</a:t>
                      </a:r>
                      <a:endParaRPr lang="en-IN" dirty="0"/>
                    </a:p>
                  </a:txBody>
                  <a:tcPr/>
                </a:tc>
                <a:tc>
                  <a:txBody>
                    <a:bodyPr/>
                    <a:lstStyle/>
                    <a:p>
                      <a:pPr algn="just"/>
                      <a:r>
                        <a:rPr lang="en-IN" dirty="0"/>
                        <a:t>Advantages</a:t>
                      </a:r>
                      <a:endParaRPr lang="en-IN" dirty="0"/>
                    </a:p>
                  </a:txBody>
                  <a:tcPr/>
                </a:tc>
                <a:tc>
                  <a:txBody>
                    <a:bodyPr/>
                    <a:lstStyle/>
                    <a:p>
                      <a:pPr algn="just"/>
                      <a:r>
                        <a:rPr lang="en-IN" dirty="0"/>
                        <a:t>Limitations</a:t>
                      </a:r>
                      <a:endParaRPr lang="en-IN" dirty="0"/>
                    </a:p>
                  </a:txBody>
                  <a:tcPr/>
                </a:tc>
              </a:tr>
              <a:tr h="2761931">
                <a:tc>
                  <a:txBody>
                    <a:bodyPr/>
                    <a:lstStyle/>
                    <a:p>
                      <a:pPr algn="just"/>
                      <a:r>
                        <a:rPr lang="en-IN" dirty="0"/>
                        <a:t>3.</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t>Faster R-CNN Based Traffic Sign Detection and Classification </a:t>
                      </a:r>
                      <a:endParaRPr lang="en-US" dirty="0"/>
                    </a:p>
                    <a:p>
                      <a:pPr algn="just"/>
                      <a:endParaRPr lang="en-IN" dirty="0"/>
                    </a:p>
                  </a:txBody>
                  <a:tcPr/>
                </a:tc>
                <a:tc>
                  <a:txBody>
                    <a:bodyPr/>
                    <a:lstStyle/>
                    <a:p>
                      <a:pPr algn="just"/>
                      <a:r>
                        <a:rPr lang="en-US" dirty="0"/>
                        <a:t>Develop a Faster R-CNN model with ResNet-50 and FPN for accurate traffic sign detection and achieve high classification accuracy for real-time traffic applications.</a:t>
                      </a:r>
                      <a:endParaRPr lang="en-IN" dirty="0"/>
                    </a:p>
                  </a:txBody>
                  <a:tcPr/>
                </a:tc>
                <a:tc>
                  <a:txBody>
                    <a:bodyPr/>
                    <a:lstStyle/>
                    <a:p>
                      <a:pPr algn="just"/>
                      <a:r>
                        <a:rPr lang="en-US" dirty="0"/>
                        <a:t>- Faster R-CNN with ResNet-50 and Feature Pyramid Network (FPN) for traffic sign detection and classification.</a:t>
                      </a:r>
                      <a:endParaRPr lang="en-IN" dirty="0"/>
                    </a:p>
                  </a:txBody>
                  <a:tcPr/>
                </a:tc>
                <a:tc>
                  <a:txBody>
                    <a:bodyPr/>
                    <a:lstStyle/>
                    <a:p>
                      <a:pPr algn="just"/>
                      <a:r>
                        <a:rPr lang="en-US" dirty="0"/>
                        <a:t>Faster R-CNN provides high detection accuracy and real-time performance, surpassing other models like MobileNetV3 and </a:t>
                      </a:r>
                      <a:r>
                        <a:rPr lang="en-US" dirty="0" err="1"/>
                        <a:t>RetinaNet</a:t>
                      </a:r>
                      <a:r>
                        <a:rPr lang="en-US" dirty="0"/>
                        <a:t>, especially in challenging conditions.</a:t>
                      </a:r>
                      <a:endParaRPr lang="en-IN" dirty="0"/>
                    </a:p>
                  </a:txBody>
                  <a:tcPr/>
                </a:tc>
                <a:tc>
                  <a:txBody>
                    <a:bodyPr/>
                    <a:lstStyle/>
                    <a:p>
                      <a:pPr algn="just"/>
                      <a:r>
                        <a:rPr lang="en-US" dirty="0"/>
                        <a:t>Faster R-CNN requires significant computational resources and may struggle in scenarios with varying sign sizes or limited dataset diversity.</a:t>
                      </a:r>
                      <a:endParaRPr lang="en-IN" dirty="0"/>
                    </a:p>
                  </a:txBody>
                  <a:tcPr/>
                </a:tc>
              </a:tr>
              <a:tr h="3057852">
                <a:tc>
                  <a:txBody>
                    <a:bodyPr/>
                    <a:lstStyle/>
                    <a:p>
                      <a:pPr algn="just"/>
                      <a:r>
                        <a:rPr lang="en-IN" dirty="0"/>
                        <a:t>4.</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t>Traffic sign recognition method based on the YOLOv3 algorithm </a:t>
                      </a:r>
                      <a:endParaRPr lang="en-US" dirty="0"/>
                    </a:p>
                    <a:p>
                      <a:pPr algn="just"/>
                      <a:endParaRPr lang="en-IN" dirty="0"/>
                    </a:p>
                  </a:txBody>
                  <a:tcPr/>
                </a:tc>
                <a:tc>
                  <a:txBody>
                    <a:bodyPr/>
                    <a:lstStyle/>
                    <a:p>
                      <a:pPr algn="just"/>
                      <a:r>
                        <a:rPr lang="en-US" dirty="0"/>
                        <a:t>Enhance YOLOv3 for traffic sign recognition by integrating spatial pyramid pooling, </a:t>
                      </a:r>
                      <a:r>
                        <a:rPr lang="en-US" dirty="0" err="1"/>
                        <a:t>DIoU</a:t>
                      </a:r>
                      <a:r>
                        <a:rPr lang="en-US" dirty="0"/>
                        <a:t> loss, and K-means clustering to improve small target detection and accuracy in challenging conditions.</a:t>
                      </a:r>
                      <a:endParaRPr lang="en-IN" dirty="0"/>
                    </a:p>
                  </a:txBody>
                  <a:tcPr/>
                </a:tc>
                <a:tc>
                  <a:txBody>
                    <a:bodyPr/>
                    <a:lstStyle/>
                    <a:p>
                      <a:pPr algn="just"/>
                      <a:r>
                        <a:rPr lang="en-IN" dirty="0"/>
                        <a:t>- YOLOv3 algorithm, spatial pyramid pooling (SPP), distance-</a:t>
                      </a:r>
                      <a:r>
                        <a:rPr lang="en-IN" dirty="0" err="1"/>
                        <a:t>IoU</a:t>
                      </a:r>
                      <a:r>
                        <a:rPr lang="en-IN" dirty="0"/>
                        <a:t> (</a:t>
                      </a:r>
                      <a:r>
                        <a:rPr lang="en-IN" dirty="0" err="1"/>
                        <a:t>DIoU</a:t>
                      </a:r>
                      <a:r>
                        <a:rPr lang="en-IN" dirty="0"/>
                        <a:t>) loss, K-means clustering, and multi-scale prediction for small target detection.</a:t>
                      </a:r>
                      <a:endParaRPr lang="en-IN" dirty="0"/>
                    </a:p>
                  </a:txBody>
                  <a:tcPr/>
                </a:tc>
                <a:tc>
                  <a:txBody>
                    <a:bodyPr/>
                    <a:lstStyle/>
                    <a:p>
                      <a:pPr algn="just"/>
                      <a:r>
                        <a:rPr lang="en-US" dirty="0"/>
                        <a:t>Enhanced small target detection, improved accuracy with feature fusion, stable bounding box regression, and strong performance in challenging conditions.</a:t>
                      </a:r>
                      <a:endParaRPr lang="en-IN" dirty="0"/>
                    </a:p>
                  </a:txBody>
                  <a:tcPr/>
                </a:tc>
                <a:tc>
                  <a:txBody>
                    <a:bodyPr/>
                    <a:lstStyle/>
                    <a:p>
                      <a:pPr algn="just"/>
                      <a:r>
                        <a:rPr lang="en-US" dirty="0"/>
                        <a:t>Slightly increased computational complexity and potential struggles with very dense or overlapping traffic signs.</a:t>
                      </a:r>
                      <a:endParaRPr lang="en-IN"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graphicFrame>
        <p:nvGraphicFramePr>
          <p:cNvPr id="4" name="Table 3"/>
          <p:cNvGraphicFramePr>
            <a:graphicFrameLocks noGrp="1"/>
          </p:cNvGraphicFramePr>
          <p:nvPr/>
        </p:nvGraphicFramePr>
        <p:xfrm>
          <a:off x="120396" y="326474"/>
          <a:ext cx="11951207" cy="3205480"/>
        </p:xfrm>
        <a:graphic>
          <a:graphicData uri="http://schemas.openxmlformats.org/drawingml/2006/table">
            <a:tbl>
              <a:tblPr firstRow="1" bandRow="1">
                <a:tableStyleId>{5C22544A-7EE6-4342-B048-85BDC9FD1C3A}</a:tableStyleId>
              </a:tblPr>
              <a:tblGrid>
                <a:gridCol w="1059175"/>
                <a:gridCol w="2924560"/>
                <a:gridCol w="1991868"/>
                <a:gridCol w="1991868"/>
                <a:gridCol w="1991868"/>
                <a:gridCol w="1991868"/>
              </a:tblGrid>
              <a:tr h="370840">
                <a:tc>
                  <a:txBody>
                    <a:bodyPr/>
                    <a:lstStyle/>
                    <a:p>
                      <a:pPr algn="just"/>
                      <a:r>
                        <a:rPr lang="en-IN" dirty="0"/>
                        <a:t>Sl.NO</a:t>
                      </a:r>
                      <a:endParaRPr lang="en-IN" dirty="0"/>
                    </a:p>
                  </a:txBody>
                  <a:tcPr/>
                </a:tc>
                <a:tc>
                  <a:txBody>
                    <a:bodyPr/>
                    <a:lstStyle/>
                    <a:p>
                      <a:pPr algn="just"/>
                      <a:r>
                        <a:rPr lang="en-IN" dirty="0"/>
                        <a:t>Paper name </a:t>
                      </a:r>
                      <a:endParaRPr lang="en-IN" dirty="0"/>
                    </a:p>
                  </a:txBody>
                  <a:tcPr/>
                </a:tc>
                <a:tc>
                  <a:txBody>
                    <a:bodyPr/>
                    <a:lstStyle/>
                    <a:p>
                      <a:pPr algn="just"/>
                      <a:r>
                        <a:rPr lang="en-IN" dirty="0"/>
                        <a:t>Objectives</a:t>
                      </a:r>
                      <a:endParaRPr lang="en-IN" dirty="0"/>
                    </a:p>
                  </a:txBody>
                  <a:tcPr/>
                </a:tc>
                <a:tc>
                  <a:txBody>
                    <a:bodyPr/>
                    <a:lstStyle/>
                    <a:p>
                      <a:pPr algn="just"/>
                      <a:r>
                        <a:rPr lang="en-IN" dirty="0"/>
                        <a:t>Techniques</a:t>
                      </a:r>
                      <a:endParaRPr lang="en-IN" dirty="0"/>
                    </a:p>
                  </a:txBody>
                  <a:tcPr/>
                </a:tc>
                <a:tc>
                  <a:txBody>
                    <a:bodyPr/>
                    <a:lstStyle/>
                    <a:p>
                      <a:pPr algn="just"/>
                      <a:r>
                        <a:rPr lang="en-IN" dirty="0"/>
                        <a:t>Advantages</a:t>
                      </a:r>
                      <a:endParaRPr lang="en-IN" dirty="0"/>
                    </a:p>
                  </a:txBody>
                  <a:tcPr/>
                </a:tc>
                <a:tc>
                  <a:txBody>
                    <a:bodyPr/>
                    <a:lstStyle/>
                    <a:p>
                      <a:pPr algn="just"/>
                      <a:r>
                        <a:rPr lang="en-IN" dirty="0"/>
                        <a:t>Limitations</a:t>
                      </a:r>
                      <a:endParaRPr lang="en-IN" dirty="0"/>
                    </a:p>
                  </a:txBody>
                  <a:tcPr/>
                </a:tc>
              </a:tr>
              <a:tr h="370840">
                <a:tc>
                  <a:txBody>
                    <a:bodyPr/>
                    <a:lstStyle/>
                    <a:p>
                      <a:pPr algn="just"/>
                      <a:r>
                        <a:rPr lang="en-IN" dirty="0"/>
                        <a:t>5.</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t>Enhancing Autonomous Driving Safety: A Robust Stacking Ensemble Model for Traffic Sign Detection and Recognition</a:t>
                      </a:r>
                      <a:endParaRPr lang="en-IN" dirty="0"/>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t>Improve accuracy for distant signs and complex backgrounds in autonomous driving</a:t>
                      </a:r>
                      <a:endParaRPr lang="en-IN" dirty="0"/>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t>- Uses an ensemble of Faster R-CNN and YOLOX-Tiny, combining feature fusion for robustness in detection under real-world conditions</a:t>
                      </a:r>
                      <a:endParaRPr lang="en-IN" dirty="0"/>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t>High accuracy in challenging environments with robustness against background clutter</a:t>
                      </a:r>
                      <a:endParaRPr lang="en-IN" dirty="0"/>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t>May require fine-tuning for specific signs; computationally heavy for real-time on low-resource devices</a:t>
                      </a:r>
                      <a:endParaRPr lang="en-IN" dirty="0"/>
                    </a:p>
                    <a:p>
                      <a:pPr algn="just"/>
                      <a:endParaRPr lang="en-IN" dirty="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355600" y="447040"/>
            <a:ext cx="11430000" cy="4514056"/>
          </a:xfrm>
          <a:prstGeom prst="rect">
            <a:avLst/>
          </a:prstGeom>
          <a:noFill/>
        </p:spPr>
        <p:txBody>
          <a:bodyPr wrap="square" lIns="91440" tIns="45720" rIns="91440" bIns="45720" rtlCol="0" anchor="t">
            <a:spAutoFit/>
          </a:bodyPr>
          <a:lstStyle/>
          <a:p>
            <a:pPr algn="just"/>
            <a:r>
              <a:rPr lang="en-IN" sz="3200" b="1" dirty="0"/>
              <a:t>Objectives</a:t>
            </a:r>
            <a:r>
              <a:rPr lang="en-IN" sz="3200" dirty="0"/>
              <a:t>:</a:t>
            </a:r>
            <a:endParaRPr lang="en-IN" sz="3200" dirty="0"/>
          </a:p>
          <a:p>
            <a:pPr algn="just"/>
            <a:endParaRPr lang="en-IN" sz="3200" dirty="0"/>
          </a:p>
          <a:p>
            <a:pPr marL="342900" lvl="0" indent="-342900" algn="just">
              <a:buSzPts val="850"/>
              <a:buFont typeface="Wingdings" panose="05000000000000000000" pitchFamily="2" charset="2"/>
              <a:buChar char="Ø"/>
              <a:tabLst>
                <a:tab pos="217170" algn="l"/>
              </a:tabLst>
            </a:pPr>
            <a:r>
              <a:rPr lang="en-US"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Real-time road sign detection adaptable to large-scale road networks</a:t>
            </a:r>
            <a:endParaRPr lang="en-IN" sz="28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60"/>
              </a:spcBef>
              <a:buSzPts val="850"/>
              <a:buFont typeface="Wingdings" panose="05000000000000000000" pitchFamily="2" charset="2"/>
              <a:buChar char="Ø"/>
              <a:tabLst>
                <a:tab pos="217170" algn="l"/>
              </a:tabLst>
            </a:pPr>
            <a:r>
              <a:rPr lang="en-US"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Reduce false positives and improve classification accuracy for traffic signs.</a:t>
            </a:r>
            <a:endParaRPr lang="en-IN" sz="28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60"/>
              </a:spcBef>
              <a:buSzPts val="850"/>
              <a:buFont typeface="Wingdings" panose="05000000000000000000" pitchFamily="2" charset="2"/>
              <a:buChar char="Ø"/>
              <a:tabLst>
                <a:tab pos="217170" algn="l"/>
              </a:tabLst>
            </a:pPr>
            <a:r>
              <a:rPr lang="en-US"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Improve accuracy for distant signs and complex backgrounds in autonomous driving.</a:t>
            </a:r>
            <a:endParaRPr lang="en-IN" sz="28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60"/>
              </a:spcBef>
              <a:buSzPts val="850"/>
              <a:buFont typeface="Wingdings" panose="05000000000000000000" pitchFamily="2" charset="2"/>
              <a:buChar char="Ø"/>
              <a:tabLst>
                <a:tab pos="217170" algn="l"/>
              </a:tabLst>
            </a:pPr>
            <a:r>
              <a:rPr lang="en-US"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Provide accurate multi-class sign detection with reduced false positive.</a:t>
            </a:r>
            <a:endParaRPr lang="en-IN" sz="28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60"/>
              </a:spcBef>
              <a:buSzPts val="850"/>
              <a:buFont typeface="Wingdings" panose="05000000000000000000" pitchFamily="2" charset="2"/>
              <a:buChar char="Ø"/>
              <a:tabLst>
                <a:tab pos="217170" algn="l"/>
              </a:tabLst>
            </a:pPr>
            <a:r>
              <a:rPr lang="en-US"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Improve classification accuracy while maintaining YOLOv3’ s real-time capability</a:t>
            </a:r>
            <a:endParaRPr lang="en-US"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gn="just"/>
            <a:endParaRPr lang="en-IN" sz="2400" dirty="0">
              <a:ea typeface="Calibri" panose="020F0502020204030204"/>
              <a:cs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259080" y="218122"/>
            <a:ext cx="10911840" cy="6771084"/>
          </a:xfrm>
          <a:prstGeom prst="rect">
            <a:avLst/>
          </a:prstGeom>
          <a:noFill/>
        </p:spPr>
        <p:txBody>
          <a:bodyPr wrap="square" rtlCol="0">
            <a:spAutoFit/>
          </a:bodyPr>
          <a:lstStyle/>
          <a:p>
            <a:pPr algn="just"/>
            <a:r>
              <a:rPr lang="en-IN" sz="3200" b="1" dirty="0"/>
              <a:t>Multiple Solution </a:t>
            </a:r>
            <a:r>
              <a:rPr lang="en-IN" dirty="0"/>
              <a:t>:</a:t>
            </a:r>
            <a:endParaRPr lang="en-IN" dirty="0"/>
          </a:p>
          <a:p>
            <a:pPr marL="285750" indent="-285750" algn="just">
              <a:buFont typeface="Arial" panose="020B0604020202020204" pitchFamily="34" charset="0"/>
              <a:buChar char="•"/>
            </a:pPr>
            <a:r>
              <a:rPr lang="en-US" sz="2400" b="1" dirty="0"/>
              <a:t>Raspberry pi approach: </a:t>
            </a:r>
            <a:r>
              <a:rPr lang="en-US" sz="2400" dirty="0"/>
              <a:t>Deploying a traffic sign detection model on a Raspberry Pi is a powerful solution that allows you to leverage greater computational resources compared to microcontrollers like the ESP32 or Arduino Nano 33 BLE. But Compared to microcontrollers like the ESP32 or Arduino, the Raspberry Pi has a relatively higher power consumption.</a:t>
            </a: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b="1" dirty="0"/>
              <a:t>Traffic sign detection model on an ESP32 using Edge Impulse: </a:t>
            </a:r>
            <a:r>
              <a:rPr lang="en-US" sz="2400" dirty="0"/>
              <a:t>An excellent option because the ESP32 offers much more computational power and memory compared to the Arduino Nano 33 BLE Sense. The Edge Impulse platform simplifies the process of building, training, and deploying machine learning models on edge devices like the ESP32, making it an ideal choice for </a:t>
            </a:r>
            <a:r>
              <a:rPr lang="en-US" sz="2400" dirty="0" err="1"/>
              <a:t>TinyML</a:t>
            </a:r>
            <a:r>
              <a:rPr lang="en-US" sz="2400" dirty="0"/>
              <a:t> applications.</a:t>
            </a:r>
            <a:endParaRPr lang="en-US" sz="2400" dirty="0"/>
          </a:p>
          <a:p>
            <a:pPr algn="just"/>
            <a:endParaRPr lang="en-US" sz="2400" dirty="0"/>
          </a:p>
          <a:p>
            <a:pPr marL="285750" indent="-285750" algn="just">
              <a:buFont typeface="Arial" panose="020B0604020202020204" pitchFamily="34" charset="0"/>
              <a:buChar char="•"/>
            </a:pPr>
            <a:r>
              <a:rPr lang="en-US" sz="2400" b="1" dirty="0"/>
              <a:t>Using Intel i5, with graphics card GTX 1650:  </a:t>
            </a:r>
            <a:r>
              <a:rPr lang="en-US" sz="2400" dirty="0"/>
              <a:t>The available machine right now and powerful one with plenty of resources. Training the model on Teachable machine website to make it much affordable and suitable for the present use case.</a:t>
            </a: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314960" y="243840"/>
            <a:ext cx="11592560" cy="5262979"/>
          </a:xfrm>
          <a:prstGeom prst="rect">
            <a:avLst/>
          </a:prstGeom>
          <a:noFill/>
        </p:spPr>
        <p:txBody>
          <a:bodyPr wrap="square" lIns="91440" tIns="45720" rIns="91440" bIns="45720" rtlCol="0" anchor="t">
            <a:spAutoFit/>
          </a:bodyPr>
          <a:lstStyle/>
          <a:p>
            <a:pPr algn="just"/>
            <a:r>
              <a:rPr lang="en-IN" sz="3200" b="1" dirty="0"/>
              <a:t>Methodology:</a:t>
            </a:r>
            <a:endParaRPr lang="en-IN" sz="3200" b="1" dirty="0"/>
          </a:p>
          <a:p>
            <a:pPr algn="just"/>
            <a:endParaRPr lang="en-IN" sz="1600" b="1" dirty="0"/>
          </a:p>
          <a:p>
            <a:pPr marL="457200" indent="-457200" algn="just">
              <a:buFont typeface="+mj-lt"/>
              <a:buAutoNum type="arabicPeriod"/>
            </a:pPr>
            <a:r>
              <a:rPr lang="en-IN" sz="2400" dirty="0"/>
              <a:t>Making the processor ready to run the model by installing necessary libraries.</a:t>
            </a:r>
            <a:endParaRPr lang="en-IN" sz="2400" dirty="0"/>
          </a:p>
          <a:p>
            <a:pPr marL="457200" indent="-457200" algn="just">
              <a:buFont typeface="+mj-lt"/>
              <a:buAutoNum type="arabicPeriod"/>
            </a:pPr>
            <a:r>
              <a:rPr lang="en-IN" sz="2400" dirty="0"/>
              <a:t> Setting the Google </a:t>
            </a:r>
            <a:r>
              <a:rPr lang="en-IN" sz="2400" dirty="0" err="1"/>
              <a:t>Colab</a:t>
            </a:r>
            <a:r>
              <a:rPr lang="en-IN" sz="2400" dirty="0"/>
              <a:t> environment such that it should be able to carry the program.</a:t>
            </a:r>
            <a:endParaRPr lang="en-IN" sz="2400" dirty="0"/>
          </a:p>
          <a:p>
            <a:pPr marL="457200" indent="-457200" algn="just">
              <a:buFont typeface="+mj-lt"/>
              <a:buAutoNum type="arabicPeriod"/>
            </a:pPr>
            <a:r>
              <a:rPr lang="en-IN" sz="2400" dirty="0"/>
              <a:t> Training the model on Teachable machine software provided by Google with the dataset.</a:t>
            </a:r>
            <a:endParaRPr lang="en-IN" sz="2400" dirty="0"/>
          </a:p>
          <a:p>
            <a:pPr marL="457200" indent="-457200" algn="just">
              <a:buFont typeface="+mj-lt"/>
              <a:buAutoNum type="arabicPeriod"/>
            </a:pPr>
            <a:r>
              <a:rPr lang="en-US" sz="2400" dirty="0">
                <a:effectLst/>
                <a:latin typeface="Calibri" panose="020F0502020204030204" pitchFamily="34" charset="0"/>
                <a:ea typeface="Calibri" panose="020F0502020204030204" pitchFamily="34" charset="0"/>
              </a:rPr>
              <a:t>Dataset Acquisition and Preprocessing.</a:t>
            </a:r>
            <a:endParaRPr lang="en-IN" sz="2400" dirty="0"/>
          </a:p>
          <a:p>
            <a:pPr marL="457200" indent="-457200" algn="just">
              <a:buFont typeface="+mj-lt"/>
              <a:buAutoNum type="arabicPeriod"/>
            </a:pPr>
            <a:r>
              <a:rPr lang="en-IN" sz="2400" dirty="0"/>
              <a:t> The dataset is taken from https://github.com/hparik11/German-Traffic-Sign-Recognition/tree/master/images </a:t>
            </a:r>
            <a:endParaRPr lang="en-IN" sz="2400" dirty="0"/>
          </a:p>
          <a:p>
            <a:pPr marL="457200" indent="-457200" algn="just">
              <a:buFont typeface="+mj-lt"/>
              <a:buAutoNum type="arabicPeriod"/>
            </a:pPr>
            <a:r>
              <a:rPr lang="en-IN" sz="2400" dirty="0"/>
              <a:t> Importing the model into Google </a:t>
            </a:r>
            <a:r>
              <a:rPr lang="en-IN" sz="2400" dirty="0" err="1"/>
              <a:t>Colab</a:t>
            </a:r>
            <a:r>
              <a:rPr lang="en-IN" sz="2400" dirty="0"/>
              <a:t> and ready to run .</a:t>
            </a:r>
            <a:endParaRPr lang="en-IN" sz="2400" dirty="0"/>
          </a:p>
          <a:p>
            <a:pPr marL="457200" indent="-457200" algn="just">
              <a:buFont typeface="+mj-lt"/>
              <a:buAutoNum type="arabicPeriod"/>
            </a:pPr>
            <a:r>
              <a:rPr lang="en-US" sz="2400" dirty="0">
                <a:effectLst/>
                <a:latin typeface="Calibri" panose="020F0502020204030204" pitchFamily="34" charset="0"/>
                <a:ea typeface="Calibri" panose="020F0502020204030204" pitchFamily="34" charset="0"/>
                <a:cs typeface="Calibri" panose="020F0502020204030204" pitchFamily="34" charset="0"/>
              </a:rPr>
              <a:t>Testing and Calibration.</a:t>
            </a:r>
            <a:endParaRPr lang="en-US" sz="2400" dirty="0">
              <a:effectLst/>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mj-lt"/>
              <a:buAutoNum type="arabicPeriod"/>
            </a:pPr>
            <a:r>
              <a:rPr lang="en-US" sz="2400" dirty="0">
                <a:effectLst/>
                <a:latin typeface="Calibri" panose="020F0502020204030204" pitchFamily="34" charset="0"/>
                <a:ea typeface="Calibri" panose="020F0502020204030204" pitchFamily="34" charset="0"/>
                <a:cs typeface="Calibri" panose="020F0502020204030204" pitchFamily="34" charset="0"/>
              </a:rPr>
              <a:t>Optimization and Scalability.</a:t>
            </a:r>
            <a:endParaRPr lang="en-IN" sz="2400" dirty="0">
              <a:effectLst/>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mj-lt"/>
              <a:buAutoNum type="arabicPeriod"/>
            </a:pPr>
            <a:endParaRPr lang="en-IN" sz="2400" dirty="0">
              <a:effectLst/>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mj-lt"/>
              <a:buAutoNum type="arabicPeriod"/>
            </a:pPr>
            <a:endParaRPr lang="en-IN" sz="2400" dirty="0">
              <a:ea typeface="Calibri" panose="020F0502020204030204"/>
              <a:cs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5" name="TextBox 4"/>
          <p:cNvSpPr txBox="1"/>
          <p:nvPr/>
        </p:nvSpPr>
        <p:spPr>
          <a:xfrm>
            <a:off x="254000" y="293022"/>
            <a:ext cx="11511280" cy="1138773"/>
          </a:xfrm>
          <a:prstGeom prst="rect">
            <a:avLst/>
          </a:prstGeom>
          <a:noFill/>
        </p:spPr>
        <p:txBody>
          <a:bodyPr wrap="square" lIns="91440" tIns="45720" rIns="91440" bIns="45720" rtlCol="0" anchor="t">
            <a:spAutoFit/>
          </a:bodyPr>
          <a:lstStyle/>
          <a:p>
            <a:pPr algn="just"/>
            <a:r>
              <a:rPr lang="en-IN" sz="3200" b="1"/>
              <a:t>Work Breakdown structure</a:t>
            </a:r>
            <a:r>
              <a:rPr lang="en-IN"/>
              <a:t>:</a:t>
            </a:r>
            <a:endParaRPr lang="en-IN"/>
          </a:p>
          <a:p>
            <a:pPr algn="just"/>
            <a:endParaRPr lang="en-IN">
              <a:ea typeface="Calibri" panose="020F0502020204030204"/>
              <a:cs typeface="Calibri" panose="020F0502020204030204"/>
            </a:endParaRPr>
          </a:p>
          <a:p>
            <a:pPr algn="just"/>
            <a:endParaRPr lang="en-IN">
              <a:ea typeface="Calibri" panose="020F0502020204030204"/>
              <a:cs typeface="Calibri" panose="020F0502020204030204"/>
            </a:endParaRPr>
          </a:p>
        </p:txBody>
      </p:sp>
      <p:pic>
        <p:nvPicPr>
          <p:cNvPr id="4" name="Picture 3" descr="A diagram of a traffic detection using yolo v5&#10;&#10;Description automatically generated"/>
          <p:cNvPicPr>
            <a:picLocks noChangeAspect="1"/>
          </p:cNvPicPr>
          <p:nvPr/>
        </p:nvPicPr>
        <p:blipFill>
          <a:blip r:embed="rId1"/>
          <a:stretch>
            <a:fillRect/>
          </a:stretch>
        </p:blipFill>
        <p:spPr>
          <a:xfrm>
            <a:off x="1068842" y="753155"/>
            <a:ext cx="10043430" cy="54714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254000" y="186750"/>
            <a:ext cx="11684000" cy="5755422"/>
          </a:xfrm>
          <a:prstGeom prst="rect">
            <a:avLst/>
          </a:prstGeom>
          <a:noFill/>
        </p:spPr>
        <p:txBody>
          <a:bodyPr wrap="square" lIns="91440" tIns="45720" rIns="91440" bIns="45720" rtlCol="0" anchor="t">
            <a:spAutoFit/>
          </a:bodyPr>
          <a:lstStyle/>
          <a:p>
            <a:pPr algn="just"/>
            <a:r>
              <a:rPr lang="en-IN" sz="3200" b="1" dirty="0"/>
              <a:t>Input specification:</a:t>
            </a:r>
            <a:endParaRPr lang="en-IN" sz="3200" b="1" dirty="0"/>
          </a:p>
          <a:p>
            <a:pPr algn="just"/>
            <a:endParaRPr lang="en-IN" sz="3200" b="1" dirty="0">
              <a:ea typeface="Calibri" panose="020F0502020204030204"/>
              <a:cs typeface="Calibri" panose="020F0502020204030204"/>
            </a:endParaRPr>
          </a:p>
          <a:p>
            <a:pPr marL="457200" indent="-457200" algn="just">
              <a:buFont typeface="+mj-lt"/>
              <a:buAutoNum type="arabicPeriod"/>
            </a:pPr>
            <a:r>
              <a:rPr lang="en-IN" sz="2400" dirty="0">
                <a:ea typeface="+mn-lt"/>
                <a:cs typeface="+mn-lt"/>
              </a:rPr>
              <a:t>Data type: Images and Video of Traffic signs.</a:t>
            </a:r>
            <a:endParaRPr lang="en-IN" sz="2400" dirty="0">
              <a:ea typeface="Calibri" panose="020F0502020204030204"/>
              <a:cs typeface="Calibri" panose="020F0502020204030204"/>
            </a:endParaRPr>
          </a:p>
          <a:p>
            <a:pPr marL="457200" indent="-457200" algn="just">
              <a:buFont typeface="+mj-lt"/>
              <a:buAutoNum type="arabicPeriod"/>
            </a:pPr>
            <a:r>
              <a:rPr lang="en-IN" sz="2400" dirty="0">
                <a:ea typeface="+mn-lt"/>
                <a:cs typeface="+mn-lt"/>
              </a:rPr>
              <a:t>Input Source: Public dataset, containing images and videos of road while driving.</a:t>
            </a:r>
            <a:endParaRPr lang="en-IN" sz="2400" dirty="0">
              <a:ea typeface="Calibri" panose="020F0502020204030204"/>
              <a:cs typeface="Calibri" panose="020F0502020204030204"/>
            </a:endParaRPr>
          </a:p>
          <a:p>
            <a:pPr marL="457200" indent="-457200" algn="just">
              <a:buFont typeface="+mj-lt"/>
              <a:buAutoNum type="arabicPeriod"/>
            </a:pPr>
            <a:r>
              <a:rPr lang="en-IN" sz="2400" dirty="0">
                <a:ea typeface="+mn-lt"/>
                <a:cs typeface="+mn-lt"/>
              </a:rPr>
              <a:t>Image Specification: lowered resolution (ex:128x128 pixels) in JPEG or PNG format. For videos. Resolution: 640x480 pixels or 1280x720 pixels (depending on resources).Frame Rate: 15-30 fps</a:t>
            </a:r>
            <a:endParaRPr lang="en-IN" sz="2400" dirty="0">
              <a:ea typeface="+mn-lt"/>
              <a:cs typeface="+mn-lt"/>
            </a:endParaRPr>
          </a:p>
          <a:p>
            <a:pPr marL="457200" indent="-457200" algn="just">
              <a:buFont typeface="+mj-lt"/>
              <a:buAutoNum type="arabicPeriod"/>
            </a:pPr>
            <a:r>
              <a:rPr lang="en-IN" sz="2400" dirty="0">
                <a:ea typeface="+mn-lt"/>
                <a:cs typeface="+mn-lt"/>
              </a:rPr>
              <a:t>Environment :Designed for real-world conditions.</a:t>
            </a:r>
            <a:endParaRPr lang="en-IN" sz="2400" dirty="0">
              <a:ea typeface="+mn-lt"/>
              <a:cs typeface="+mn-lt"/>
            </a:endParaRPr>
          </a:p>
          <a:p>
            <a:pPr marL="514350" indent="-514350" algn="just">
              <a:buFont typeface="+mj-lt"/>
              <a:buAutoNum type="arabicPeriod"/>
            </a:pPr>
            <a:endParaRPr lang="en-IN" sz="3200" dirty="0">
              <a:ea typeface="+mn-lt"/>
              <a:cs typeface="+mn-lt"/>
            </a:endParaRPr>
          </a:p>
          <a:p>
            <a:pPr algn="just"/>
            <a:endParaRPr lang="en-IN" sz="3200" dirty="0">
              <a:ea typeface="Calibri" panose="020F0502020204030204"/>
              <a:cs typeface="Calibri" panose="020F0502020204030204"/>
            </a:endParaRPr>
          </a:p>
          <a:p>
            <a:pPr algn="just"/>
            <a:endParaRPr lang="en-IN" sz="3200" dirty="0">
              <a:ea typeface="Calibri" panose="020F0502020204030204"/>
              <a:cs typeface="Calibri" panose="020F0502020204030204"/>
            </a:endParaRPr>
          </a:p>
          <a:p>
            <a:pPr algn="just"/>
            <a:endParaRPr lang="en-IN" sz="3200" b="1" dirty="0">
              <a:ea typeface="Calibri" panose="020F0502020204030204"/>
              <a:cs typeface="Calibri" panose="020F0502020204030204"/>
            </a:endParaRPr>
          </a:p>
          <a:p>
            <a:pPr algn="just"/>
            <a:endParaRPr lang="en-IN" sz="3200" b="1" dirty="0">
              <a:ea typeface="Calibri" panose="020F0502020204030204"/>
              <a:cs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234762" y="326058"/>
            <a:ext cx="11925781"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r>
              <a:rPr lang="en-US" sz="3600" b="1" dirty="0">
                <a:ea typeface="Calibri" panose="020F0502020204030204"/>
                <a:cs typeface="Calibri" panose="020F0502020204030204"/>
              </a:rPr>
              <a:t>Output specification:</a:t>
            </a:r>
            <a:endParaRPr lang="en-US" sz="3600" b="1" dirty="0">
              <a:ea typeface="Calibri" panose="020F0502020204030204"/>
              <a:cs typeface="Calibri" panose="020F0502020204030204"/>
            </a:endParaRPr>
          </a:p>
          <a:p>
            <a:pPr algn="just"/>
            <a:endParaRPr lang="en-US" sz="2400" dirty="0">
              <a:ea typeface="+mn-lt"/>
              <a:cs typeface="+mn-lt"/>
            </a:endParaRPr>
          </a:p>
          <a:p>
            <a:pPr algn="just"/>
            <a:r>
              <a:rPr lang="en-US" sz="2400" dirty="0">
                <a:ea typeface="+mn-lt"/>
                <a:cs typeface="+mn-lt"/>
              </a:rPr>
              <a:t>1.Data Type: Classified traffic sign label.</a:t>
            </a:r>
            <a:endParaRPr lang="en-US" sz="2400" dirty="0">
              <a:ea typeface="Calibri" panose="020F0502020204030204"/>
              <a:cs typeface="Calibri" panose="020F0502020204030204"/>
            </a:endParaRPr>
          </a:p>
          <a:p>
            <a:pPr algn="just"/>
            <a:r>
              <a:rPr lang="en-US" sz="2400" dirty="0">
                <a:ea typeface="+mn-lt"/>
                <a:cs typeface="+mn-lt"/>
              </a:rPr>
              <a:t>2.Output Format: Text label or Voice alert.</a:t>
            </a:r>
            <a:endParaRPr lang="en-US" sz="2400" dirty="0">
              <a:ea typeface="Calibri" panose="020F0502020204030204"/>
              <a:cs typeface="Calibri" panose="020F0502020204030204"/>
            </a:endParaRPr>
          </a:p>
          <a:p>
            <a:pPr algn="just"/>
            <a:r>
              <a:rPr lang="en-US" sz="2400" dirty="0">
                <a:ea typeface="+mn-lt"/>
                <a:cs typeface="+mn-lt"/>
              </a:rPr>
              <a:t>3.Latency: Real-time predictions within few seconds.</a:t>
            </a:r>
            <a:endParaRPr lang="en-US" sz="2400" dirty="0">
              <a:ea typeface="Calibri" panose="020F0502020204030204"/>
              <a:cs typeface="Calibri" panose="020F0502020204030204"/>
            </a:endParaRPr>
          </a:p>
          <a:p>
            <a:pPr algn="just"/>
            <a:r>
              <a:rPr lang="en-US" sz="2400" dirty="0">
                <a:ea typeface="+mn-lt"/>
                <a:cs typeface="+mn-lt"/>
              </a:rPr>
              <a:t>4.Actions: Output results displayed on a Display output.</a:t>
            </a:r>
            <a:endParaRPr lang="en-US" sz="2400" dirty="0">
              <a:ea typeface="Calibri" panose="020F0502020204030204"/>
              <a:cs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313016" y="273889"/>
            <a:ext cx="1162676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600" b="1" dirty="0">
                <a:ea typeface="Calibri" panose="020F0502020204030204"/>
                <a:cs typeface="Calibri" panose="020F0502020204030204"/>
              </a:rPr>
              <a:t>Detailed Block Diagram:</a:t>
            </a:r>
            <a:endParaRPr lang="en-US" sz="3600" b="1" dirty="0">
              <a:ea typeface="Calibri" panose="020F0502020204030204"/>
              <a:cs typeface="Calibri" panose="020F0502020204030204"/>
            </a:endParaRPr>
          </a:p>
          <a:p>
            <a:endParaRPr lang="en-US" sz="3600" b="1" dirty="0">
              <a:ea typeface="Calibri" panose="020F0502020204030204"/>
              <a:cs typeface="Calibri" panose="020F0502020204030204"/>
            </a:endParaRPr>
          </a:p>
        </p:txBody>
      </p:sp>
      <p:pic>
        <p:nvPicPr>
          <p:cNvPr id="5" name="Picture 4" descr="A diagram of a traffic sign&#10;&#10;Description automatically generated"/>
          <p:cNvPicPr>
            <a:picLocks noChangeAspect="1"/>
          </p:cNvPicPr>
          <p:nvPr/>
        </p:nvPicPr>
        <p:blipFill>
          <a:blip r:embed="rId1"/>
          <a:stretch>
            <a:fillRect/>
          </a:stretch>
        </p:blipFill>
        <p:spPr>
          <a:xfrm>
            <a:off x="2128837" y="1423987"/>
            <a:ext cx="7934325" cy="40100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386080" y="406400"/>
            <a:ext cx="11430000" cy="3908762"/>
          </a:xfrm>
          <a:prstGeom prst="rect">
            <a:avLst/>
          </a:prstGeom>
          <a:noFill/>
        </p:spPr>
        <p:txBody>
          <a:bodyPr wrap="square" rtlCol="0">
            <a:spAutoFit/>
          </a:bodyPr>
          <a:lstStyle/>
          <a:p>
            <a:r>
              <a:rPr lang="en-IN" sz="3200" b="1" dirty="0"/>
              <a:t>Bill of material:</a:t>
            </a:r>
            <a:endParaRPr lang="en-IN" sz="3200" b="1" dirty="0"/>
          </a:p>
          <a:p>
            <a:endParaRPr lang="en-IN" sz="3200" b="1" dirty="0"/>
          </a:p>
          <a:p>
            <a:pPr algn="just"/>
            <a:r>
              <a:rPr lang="en-IN" sz="3200" dirty="0"/>
              <a:t>As we are running the Machine learning algorithm on our laptop with configuration RYZEN 5000 series with NVIDIA GEFORCE GTX 1650 graphics card for our project and no hardware component is required for the project the bill of materials will be zero.</a:t>
            </a:r>
            <a:endParaRPr lang="en-IN" sz="3200" dirty="0"/>
          </a:p>
          <a:p>
            <a:pPr algn="just"/>
            <a:endParaRPr lang="en-IN" sz="2400" dirty="0"/>
          </a:p>
          <a:p>
            <a:endParaRPr lang="en-IN" sz="32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375920" y="518160"/>
            <a:ext cx="11612880" cy="3046988"/>
          </a:xfrm>
          <a:prstGeom prst="rect">
            <a:avLst/>
          </a:prstGeom>
          <a:noFill/>
        </p:spPr>
        <p:txBody>
          <a:bodyPr wrap="square" rtlCol="0">
            <a:spAutoFit/>
          </a:bodyPr>
          <a:lstStyle/>
          <a:p>
            <a:pPr algn="just"/>
            <a:r>
              <a:rPr lang="en-IN" sz="3200" b="1"/>
              <a:t>Results:</a:t>
            </a:r>
            <a:endParaRPr lang="en-IN" sz="3200" b="1"/>
          </a:p>
          <a:p>
            <a:pPr algn="just"/>
            <a:endParaRPr lang="en-IN" sz="3200" b="1"/>
          </a:p>
          <a:p>
            <a:pPr algn="just"/>
            <a:endParaRPr lang="en-IN" sz="3200" b="1"/>
          </a:p>
          <a:p>
            <a:pPr algn="just"/>
            <a:endParaRPr lang="en-IN" sz="3200" b="1"/>
          </a:p>
          <a:p>
            <a:pPr algn="just"/>
            <a:endParaRPr lang="en-IN" sz="3200" b="1"/>
          </a:p>
          <a:p>
            <a:pPr algn="just"/>
            <a:endParaRPr lang="en-IN" sz="3200" b="1"/>
          </a:p>
        </p:txBody>
      </p:sp>
      <p:sp>
        <p:nvSpPr>
          <p:cNvPr id="5"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AutoShape 4"/>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7" name="AutoShape 6"/>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5801" y="1752282"/>
            <a:ext cx="4947919" cy="4110038"/>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778447"/>
            <a:ext cx="5069840" cy="40838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203200" y="264160"/>
            <a:ext cx="11673840" cy="4031873"/>
          </a:xfrm>
          <a:prstGeom prst="rect">
            <a:avLst/>
          </a:prstGeom>
          <a:noFill/>
        </p:spPr>
        <p:txBody>
          <a:bodyPr wrap="square" rtlCol="0">
            <a:spAutoFit/>
          </a:bodyPr>
          <a:lstStyle/>
          <a:p>
            <a:pPr algn="just"/>
            <a:r>
              <a:rPr lang="en-IN" sz="3200" b="1" dirty="0"/>
              <a:t>Conclusion :</a:t>
            </a:r>
            <a:endParaRPr lang="en-IN" sz="3200" b="1" dirty="0"/>
          </a:p>
          <a:p>
            <a:pPr algn="just"/>
            <a:endParaRPr lang="en-IN" sz="3200" b="1" dirty="0"/>
          </a:p>
          <a:p>
            <a:pPr algn="just"/>
            <a:r>
              <a:rPr lang="en-US" sz="3200" dirty="0">
                <a:latin typeface="Calibri" panose="020F0502020204030204" pitchFamily="34" charset="0"/>
                <a:ea typeface="Calibri" panose="020F0502020204030204" pitchFamily="34" charset="0"/>
                <a:cs typeface="Calibri" panose="020F0502020204030204" pitchFamily="34" charset="0"/>
              </a:rPr>
              <a:t>The Traffic Rule Auto Assistance project effectively uses a laptop camera and machine learning to detect traffic signs and convert them into audio text, providing real-time guidance to drivers. This system enhances road safety and offers a practical solution for improving driver awareness. Future improvements can focus on optimizing accuracy and usability</a:t>
            </a:r>
            <a:endParaRPr lang="en-IN" sz="32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A2B09-8EBB-4AE7-97CB-2C17BA57139F}" type="datetime1">
              <a:rPr lang="en-IN" smtClean="0"/>
            </a:fld>
            <a:endParaRPr lang="en-IN"/>
          </a:p>
        </p:txBody>
      </p:sp>
      <p:sp>
        <p:nvSpPr>
          <p:cNvPr id="3" name="Slide Number Placeholder 2"/>
          <p:cNvSpPr>
            <a:spLocks noGrp="1"/>
          </p:cNvSpPr>
          <p:nvPr>
            <p:ph type="sldNum" sz="quarter" idx="12"/>
          </p:nvPr>
        </p:nvSpPr>
        <p:spPr/>
        <p:txBody>
          <a:bodyPr/>
          <a:lstStyle/>
          <a:p>
            <a:fld id="{C7C5D7E8-EE27-4204-8EF9-D5E90A448860}" type="slidenum">
              <a:rPr lang="en-IN" smtClean="0"/>
            </a:fld>
            <a:endParaRPr lang="en-IN"/>
          </a:p>
        </p:txBody>
      </p:sp>
      <p:sp>
        <p:nvSpPr>
          <p:cNvPr id="4" name="TextBox 3"/>
          <p:cNvSpPr txBox="1"/>
          <p:nvPr/>
        </p:nvSpPr>
        <p:spPr>
          <a:xfrm>
            <a:off x="1095558" y="704287"/>
            <a:ext cx="7180161"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endParaRPr lang="en-US" sz="4800">
              <a:ea typeface="Calibri" panose="020F0502020204030204"/>
              <a:cs typeface="Calibri" panose="020F0502020204030204"/>
            </a:endParaRPr>
          </a:p>
          <a:p>
            <a:pPr algn="ctr"/>
            <a:endParaRPr lang="en-US" sz="4800">
              <a:ea typeface="Calibri" panose="020F0502020204030204"/>
              <a:cs typeface="Calibri" panose="020F0502020204030204"/>
            </a:endParaRPr>
          </a:p>
          <a:p>
            <a:pPr algn="ctr"/>
            <a:endParaRPr lang="en-US" sz="4800">
              <a:ea typeface="Calibri" panose="020F0502020204030204"/>
              <a:cs typeface="Calibri" panose="020F0502020204030204"/>
            </a:endParaRPr>
          </a:p>
          <a:p>
            <a:pPr algn="ctr"/>
            <a:r>
              <a:rPr lang="en-US" sz="4800">
                <a:ea typeface="Calibri" panose="020F0502020204030204"/>
                <a:cs typeface="Calibri" panose="020F0502020204030204"/>
              </a:rPr>
              <a:t>           THANK YOU</a:t>
            </a:r>
            <a:endParaRPr lang="en-US">
              <a:ea typeface="Calibri" panose="020F0502020204030204"/>
              <a:cs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7322</Words>
  <Application>WPS Presentation</Application>
  <PresentationFormat>Widescreen</PresentationFormat>
  <Paragraphs>414</Paragraphs>
  <Slides>17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17</vt:i4>
      </vt:variant>
    </vt:vector>
  </HeadingPairs>
  <TitlesOfParts>
    <vt:vector size="28" baseType="lpstr">
      <vt:lpstr>Arial</vt:lpstr>
      <vt:lpstr>SimSun</vt:lpstr>
      <vt:lpstr>Wingdings</vt:lpstr>
      <vt:lpstr>Times New Roman</vt:lpstr>
      <vt:lpstr>Calibri</vt:lpstr>
      <vt:lpstr>Arial</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Brunda G</dc:creator>
  <cp:lastModifiedBy>Priyanka Budihal</cp:lastModifiedBy>
  <cp:revision>41</cp:revision>
  <dcterms:created xsi:type="dcterms:W3CDTF">2023-11-23T11:59:00Z</dcterms:created>
  <dcterms:modified xsi:type="dcterms:W3CDTF">2026-06-14T14:36:58Z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A7DD5FC34A6641FBB4FC72A92B934D2F_12</vt:lpwstr>
  </property>
  <property fmtid="{D5CDD505-2E9C-101B-9397-08002B2CF9AE}" pid="3" name="KSOProductBuildVer">
    <vt:lpwstr>1033-12.1.0.26880</vt:lpwstr>
  </property>
</Properties>
</file>